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8"/>
  </p:notesMasterIdLst>
  <p:sldIdLst>
    <p:sldId id="257" r:id="rId2"/>
    <p:sldId id="275" r:id="rId3"/>
    <p:sldId id="276" r:id="rId4"/>
    <p:sldId id="277" r:id="rId5"/>
    <p:sldId id="278" r:id="rId6"/>
    <p:sldId id="279" r:id="rId7"/>
    <p:sldId id="280" r:id="rId8"/>
    <p:sldId id="281" r:id="rId9"/>
    <p:sldId id="282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</p:sldIdLst>
  <p:sldSz cx="9144000" cy="6858000" type="screen4x3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4"/>
  </p:normalViewPr>
  <p:slideViewPr>
    <p:cSldViewPr snapToGrid="0">
      <p:cViewPr>
        <p:scale>
          <a:sx n="120" d="100"/>
          <a:sy n="120" d="100"/>
        </p:scale>
        <p:origin x="1944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10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02" name="Shape 102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j-lt"/>
        <a:ea typeface="+mj-ea"/>
        <a:cs typeface="+mj-cs"/>
        <a:sym typeface="Calibri"/>
      </a:defRPr>
    </a:lvl1pPr>
    <a:lvl2pPr indent="228600" defTabSz="457200" latinLnBrk="0">
      <a:defRPr sz="1200">
        <a:latin typeface="+mj-lt"/>
        <a:ea typeface="+mj-ea"/>
        <a:cs typeface="+mj-cs"/>
        <a:sym typeface="Calibri"/>
      </a:defRPr>
    </a:lvl2pPr>
    <a:lvl3pPr indent="457200" defTabSz="457200" latinLnBrk="0">
      <a:defRPr sz="1200">
        <a:latin typeface="+mj-lt"/>
        <a:ea typeface="+mj-ea"/>
        <a:cs typeface="+mj-cs"/>
        <a:sym typeface="Calibri"/>
      </a:defRPr>
    </a:lvl3pPr>
    <a:lvl4pPr indent="685800" defTabSz="457200" latinLnBrk="0">
      <a:defRPr sz="1200">
        <a:latin typeface="+mj-lt"/>
        <a:ea typeface="+mj-ea"/>
        <a:cs typeface="+mj-cs"/>
        <a:sym typeface="Calibri"/>
      </a:defRPr>
    </a:lvl4pPr>
    <a:lvl5pPr indent="914400" defTabSz="457200" latinLnBrk="0">
      <a:defRPr sz="1200">
        <a:latin typeface="+mj-lt"/>
        <a:ea typeface="+mj-ea"/>
        <a:cs typeface="+mj-cs"/>
        <a:sym typeface="Calibri"/>
      </a:defRPr>
    </a:lvl5pPr>
    <a:lvl6pPr indent="1143000" defTabSz="457200" latinLnBrk="0">
      <a:defRPr sz="1200">
        <a:latin typeface="+mj-lt"/>
        <a:ea typeface="+mj-ea"/>
        <a:cs typeface="+mj-cs"/>
        <a:sym typeface="Calibri"/>
      </a:defRPr>
    </a:lvl6pPr>
    <a:lvl7pPr indent="1371600" defTabSz="457200" latinLnBrk="0">
      <a:defRPr sz="1200">
        <a:latin typeface="+mj-lt"/>
        <a:ea typeface="+mj-ea"/>
        <a:cs typeface="+mj-cs"/>
        <a:sym typeface="Calibri"/>
      </a:defRPr>
    </a:lvl7pPr>
    <a:lvl8pPr indent="1600200" defTabSz="457200" latinLnBrk="0">
      <a:defRPr sz="1200">
        <a:latin typeface="+mj-lt"/>
        <a:ea typeface="+mj-ea"/>
        <a:cs typeface="+mj-cs"/>
        <a:sym typeface="Calibri"/>
      </a:defRPr>
    </a:lvl8pPr>
    <a:lvl9pPr indent="1828800" defTabSz="4572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685800" y="1122362"/>
            <a:ext cx="77724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143000" y="3602037"/>
            <a:ext cx="6858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>
            <a:spLocks noGrp="1"/>
          </p:cNvSpPr>
          <p:nvPr>
            <p:ph type="title"/>
          </p:nvPr>
        </p:nvSpPr>
        <p:spPr>
          <a:xfrm>
            <a:off x="623887" y="1709739"/>
            <a:ext cx="7886701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3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623887" y="4589464"/>
            <a:ext cx="7886701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/>
            </a:lvl1pPr>
            <a:lvl2pPr marL="0" indent="457200">
              <a:buSzTx/>
              <a:buFontTx/>
              <a:buNone/>
              <a:defRPr sz="2400"/>
            </a:lvl2pPr>
            <a:lvl3pPr marL="0" indent="914400">
              <a:buSzTx/>
              <a:buFontTx/>
              <a:buNone/>
              <a:defRPr sz="2400"/>
            </a:lvl3pPr>
            <a:lvl4pPr marL="0" indent="1371600">
              <a:buSzTx/>
              <a:buFontTx/>
              <a:buNone/>
              <a:defRPr sz="2400"/>
            </a:lvl4pPr>
            <a:lvl5pPr marL="0" indent="1828800">
              <a:buSzTx/>
              <a:buFontTx/>
              <a:buNone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9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>
            <a:spLocks noGrp="1"/>
          </p:cNvSpPr>
          <p:nvPr>
            <p:ph type="title"/>
          </p:nvPr>
        </p:nvSpPr>
        <p:spPr>
          <a:xfrm>
            <a:off x="629841" y="365125"/>
            <a:ext cx="7886701" cy="1325564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629841" y="1681163"/>
            <a:ext cx="3868341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2400" b="1"/>
            </a:lvl1pPr>
            <a:lvl2pPr marL="0" indent="457200">
              <a:buSzTx/>
              <a:buFontTx/>
              <a:buNone/>
              <a:defRPr sz="2400" b="1"/>
            </a:lvl2pPr>
            <a:lvl3pPr marL="0" indent="914400">
              <a:buSzTx/>
              <a:buFontTx/>
              <a:buNone/>
              <a:defRPr sz="2400" b="1"/>
            </a:lvl3pPr>
            <a:lvl4pPr marL="0" indent="1371600">
              <a:buSzTx/>
              <a:buFontTx/>
              <a:buNone/>
              <a:defRPr sz="2400" b="1"/>
            </a:lvl4pPr>
            <a:lvl5pPr marL="0" indent="1828800"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4629149" y="1681163"/>
            <a:ext cx="3887393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sz="2400" b="1"/>
            </a:pPr>
            <a:endParaRPr/>
          </a:p>
        </p:txBody>
      </p:sp>
      <p:sp>
        <p:nvSpPr>
          <p:cNvPr id="5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73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3887391" y="987425"/>
            <a:ext cx="4629151" cy="4873626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629840" y="2057400"/>
            <a:ext cx="2949180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  <a:endParaRPr/>
          </a:p>
        </p:txBody>
      </p:sp>
      <p:sp>
        <p:nvSpPr>
          <p:cNvPr id="7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83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3887391" y="987425"/>
            <a:ext cx="4629151" cy="48736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8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628650" y="365125"/>
            <a:ext cx="7886700" cy="1325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256726" y="6414761"/>
            <a:ext cx="258624" cy="248306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en.wikipedia.org/wiki/Pacifism" TargetMode="External"/><Relationship Id="rId13" Type="http://schemas.openxmlformats.org/officeDocument/2006/relationships/hyperlink" Target="https://en.wikipedia.org/wiki/Second_World_War" TargetMode="External"/><Relationship Id="rId18" Type="http://schemas.openxmlformats.org/officeDocument/2006/relationships/hyperlink" Target="https://en.wikipedia.org/wiki/File:Prison_for_Women_by_Kathleen_Lonsdale._1943._(22149638693).jpg" TargetMode="External"/><Relationship Id="rId3" Type="http://schemas.openxmlformats.org/officeDocument/2006/relationships/hyperlink" Target="https://en.wikipedia.org/wiki/Malawi" TargetMode="External"/><Relationship Id="rId7" Type="http://schemas.openxmlformats.org/officeDocument/2006/relationships/hyperlink" Target="https://en.wikipedia.org/wiki/Religious_Society_of_Friends" TargetMode="External"/><Relationship Id="rId12" Type="http://schemas.openxmlformats.org/officeDocument/2006/relationships/hyperlink" Target="https://en.wikipedia.org/wiki/Holloway_(HM_Prison)" TargetMode="External"/><Relationship Id="rId17" Type="http://schemas.openxmlformats.org/officeDocument/2006/relationships/hyperlink" Target="https://en.wikipedia.org/wiki/Kathleen_Lonsdale#cite_note-39" TargetMode="External"/><Relationship Id="rId2" Type="http://schemas.openxmlformats.org/officeDocument/2006/relationships/hyperlink" Target="https://en.wikipedia.org/wiki/Nyasaland" TargetMode="External"/><Relationship Id="rId16" Type="http://schemas.openxmlformats.org/officeDocument/2006/relationships/hyperlink" Target="https://en.wikipedia.org/wiki/Howard_League_for_Penal_Reform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en.wikipedia.org/wiki/Kathleen_Lonsdale#cite_note-frs-1" TargetMode="External"/><Relationship Id="rId11" Type="http://schemas.openxmlformats.org/officeDocument/2006/relationships/hyperlink" Target="https://en.wikipedia.org/wiki/Kathleen_Lonsdale#cite_note-37" TargetMode="External"/><Relationship Id="rId5" Type="http://schemas.openxmlformats.org/officeDocument/2006/relationships/hyperlink" Target="https://en.wikipedia.org/wiki/Vegetarianism" TargetMode="External"/><Relationship Id="rId15" Type="http://schemas.openxmlformats.org/officeDocument/2006/relationships/hyperlink" Target="https://en.wikipedia.org/wiki/Kathleen_Lonsdale#cite_note-38" TargetMode="External"/><Relationship Id="rId10" Type="http://schemas.openxmlformats.org/officeDocument/2006/relationships/hyperlink" Target="https://en.wikipedia.org/wiki/Peace_Pledge_Union" TargetMode="External"/><Relationship Id="rId19" Type="http://schemas.openxmlformats.org/officeDocument/2006/relationships/image" Target="../media/image1.jpeg"/><Relationship Id="rId4" Type="http://schemas.openxmlformats.org/officeDocument/2006/relationships/hyperlink" Target="https://en.wikipedia.org/wiki/Wikipedia:Citation_needed" TargetMode="External"/><Relationship Id="rId9" Type="http://schemas.openxmlformats.org/officeDocument/2006/relationships/hyperlink" Target="https://en.wikipedia.org/wiki/Kathleen_Lonsdale#cite_note-36" TargetMode="External"/><Relationship Id="rId14" Type="http://schemas.openxmlformats.org/officeDocument/2006/relationships/hyperlink" Target="https://en.wikipedia.org/wiki/Prison_reform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Chromophore" TargetMode="External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hyperlink" Target="https://en.wikipedia.org/wiki/Vertebrate_visual_opsin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wellcomecollection.org/works/x5w2tw8d" TargetMode="Externa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ellcomecollection.org/works/vk7b3bgw" TargetMode="External"/><Relationship Id="rId5" Type="http://schemas.openxmlformats.org/officeDocument/2006/relationships/hyperlink" Target="https://wellcomecollection.org/works/e6utcyqy" TargetMode="External"/><Relationship Id="rId4" Type="http://schemas.openxmlformats.org/officeDocument/2006/relationships/hyperlink" Target="https://wellcomecollection.org/works/nm9fcgfc" TargetMode="Externa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itle 1"/>
          <p:cNvSpPr txBox="1">
            <a:spLocks noGrp="1"/>
          </p:cNvSpPr>
          <p:nvPr>
            <p:ph type="ctrTitle"/>
          </p:nvPr>
        </p:nvSpPr>
        <p:spPr>
          <a:xfrm>
            <a:off x="607895" y="-594020"/>
            <a:ext cx="7772401" cy="2387601"/>
          </a:xfrm>
          <a:prstGeom prst="rect">
            <a:avLst/>
          </a:prstGeom>
        </p:spPr>
        <p:txBody>
          <a:bodyPr/>
          <a:lstStyle/>
          <a:p>
            <a:pPr>
              <a:defRPr sz="3000" b="1">
                <a:latin typeface="+mn-lt"/>
                <a:ea typeface="+mn-ea"/>
                <a:cs typeface="+mn-cs"/>
                <a:sym typeface="Courier New"/>
              </a:defRPr>
            </a:pPr>
            <a:r>
              <a:rPr lang="en-GB" dirty="0"/>
              <a:t>Quaker Scientists</a:t>
            </a:r>
            <a:endParaRPr dirty="0"/>
          </a:p>
          <a:p>
            <a:pPr>
              <a:defRPr sz="2200" b="1">
                <a:latin typeface="+mn-lt"/>
                <a:ea typeface="+mn-ea"/>
                <a:cs typeface="+mn-cs"/>
                <a:sym typeface="Courier New"/>
              </a:defRPr>
            </a:pPr>
            <a:endParaRPr dirty="0"/>
          </a:p>
          <a:p>
            <a:pPr>
              <a:defRPr sz="2200" b="1">
                <a:latin typeface="+mn-lt"/>
                <a:ea typeface="+mn-ea"/>
                <a:cs typeface="+mn-cs"/>
                <a:sym typeface="Courier New"/>
              </a:defRPr>
            </a:pPr>
            <a:r>
              <a:rPr lang="en-GB" dirty="0"/>
              <a:t>Graham Waterhouse and </a:t>
            </a:r>
            <a:r>
              <a:rPr dirty="0"/>
              <a:t>Peter Murray-Rust</a:t>
            </a:r>
          </a:p>
        </p:txBody>
      </p:sp>
      <p:sp>
        <p:nvSpPr>
          <p:cNvPr id="107" name="Subtitle 2"/>
          <p:cNvSpPr txBox="1">
            <a:spLocks noGrp="1"/>
          </p:cNvSpPr>
          <p:nvPr>
            <p:ph type="subTitle" sz="half" idx="1"/>
          </p:nvPr>
        </p:nvSpPr>
        <p:spPr>
          <a:xfrm>
            <a:off x="275772" y="1918690"/>
            <a:ext cx="5438709" cy="3358966"/>
          </a:xfrm>
          <a:prstGeom prst="rect">
            <a:avLst/>
          </a:prstGeom>
        </p:spPr>
        <p:txBody>
          <a:bodyPr/>
          <a:lstStyle/>
          <a:p>
            <a:pPr defTabSz="905255">
              <a:lnSpc>
                <a:spcPct val="81000"/>
              </a:lnSpc>
              <a:spcBef>
                <a:spcPts val="900"/>
              </a:spcBef>
              <a:defRPr sz="2376"/>
            </a:pPr>
            <a:endParaRPr dirty="0"/>
          </a:p>
          <a:p>
            <a:pPr algn="l" defTabSz="905255">
              <a:lnSpc>
                <a:spcPct val="81000"/>
              </a:lnSpc>
              <a:spcBef>
                <a:spcPts val="900"/>
              </a:spcBef>
              <a:defRPr sz="2178"/>
            </a:pPr>
            <a:r>
              <a:rPr lang="en-GB" dirty="0" err="1"/>
              <a:t>Xxx</a:t>
            </a:r>
            <a:endParaRPr dirty="0"/>
          </a:p>
          <a:p>
            <a:pPr algn="l" defTabSz="905255">
              <a:lnSpc>
                <a:spcPct val="81000"/>
              </a:lnSpc>
              <a:spcBef>
                <a:spcPts val="900"/>
              </a:spcBef>
              <a:defRPr sz="1881"/>
            </a:pPr>
            <a:r>
              <a:rPr dirty="0"/>
              <a:t>No knowledge of science is required</a:t>
            </a:r>
            <a:br>
              <a:rPr dirty="0"/>
            </a:br>
            <a:r>
              <a:rPr dirty="0"/>
              <a:t>Wikipedia links provided</a:t>
            </a:r>
          </a:p>
        </p:txBody>
      </p:sp>
      <p:sp>
        <p:nvSpPr>
          <p:cNvPr id="108" name="TextBox 4"/>
          <p:cNvSpPr txBox="1"/>
          <p:nvPr/>
        </p:nvSpPr>
        <p:spPr>
          <a:xfrm>
            <a:off x="370183" y="6297691"/>
            <a:ext cx="7916934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400"/>
            </a:lvl1pPr>
          </a:lstStyle>
          <a:p>
            <a:r>
              <a:rPr dirty="0"/>
              <a:t>Copyright:  Both </a:t>
            </a:r>
            <a:r>
              <a:rPr lang="en-GB" dirty="0"/>
              <a:t>Graham</a:t>
            </a:r>
            <a:r>
              <a:rPr dirty="0"/>
              <a:t> and Peter have liberal approaches to copyright (CC BY)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Box 4"/>
          <p:cNvSpPr txBox="1"/>
          <p:nvPr/>
        </p:nvSpPr>
        <p:spPr>
          <a:xfrm>
            <a:off x="370183" y="6297691"/>
            <a:ext cx="7916934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400"/>
            </a:lvl1pPr>
          </a:lstStyle>
          <a:p>
            <a:r>
              <a:rPr dirty="0"/>
              <a:t>Copyright:  Both </a:t>
            </a:r>
            <a:r>
              <a:rPr lang="en-GB" dirty="0"/>
              <a:t>Graham</a:t>
            </a:r>
            <a:r>
              <a:rPr dirty="0"/>
              <a:t> and Peter have liberal approaches to copyright (CC BY)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39A6B0-5E88-B4C7-0F33-E2F5291A0194}"/>
              </a:ext>
            </a:extLst>
          </p:cNvPr>
          <p:cNvSpPr txBox="1"/>
          <p:nvPr/>
        </p:nvSpPr>
        <p:spPr>
          <a:xfrm>
            <a:off x="2806613" y="159488"/>
            <a:ext cx="3530773" cy="6463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6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About these slides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A54A21-857E-EF2E-69F4-B2B15C476448}"/>
              </a:ext>
            </a:extLst>
          </p:cNvPr>
          <p:cNvSpPr txBox="1"/>
          <p:nvPr/>
        </p:nvSpPr>
        <p:spPr>
          <a:xfrm>
            <a:off x="1491349" y="1488558"/>
            <a:ext cx="6161300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* copyright. Wherever possible we have used CC BY (SA) material</a:t>
            </a: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44853242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02582738-C83A-002D-937B-C4829AAB12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5390732"/>
            <a:ext cx="9144000" cy="10781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39675" numCol="1" anchor="ctr" anchorCtr="0" compatLnSpc="1">
            <a:prstTxWarp prst="textNoShape">
              <a:avLst/>
            </a:prstTxWarp>
            <a:spAutoFit/>
          </a:bodyPr>
          <a:lstStyle>
            <a:lvl1pPr eaLnBrk="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sng" strike="noStrike" cap="none" normalizeH="0" baseline="0" dirty="0">
                <a:ln>
                  <a:noFill/>
                </a:ln>
                <a:solidFill>
                  <a:srgbClr val="3056A9"/>
                </a:solidFill>
                <a:effectLst/>
                <a:latin typeface="Arial" panose="020B0604020202020204" pitchFamily="34" charset="0"/>
              </a:rPr>
              <a:t>  </a:t>
            </a:r>
            <a:r>
              <a:rPr kumimoji="0" lang="en-US" altLang="en-US" sz="28900" b="0" i="0" u="sng" strike="noStrike" cap="none" normalizeH="0" baseline="0" dirty="0">
                <a:ln>
                  <a:noFill/>
                </a:ln>
                <a:solidFill>
                  <a:srgbClr val="3056A9"/>
                </a:solidFill>
                <a:effectLst/>
                <a:latin typeface="Arial" panose="020B0604020202020204" pitchFamily="34" charset="0"/>
              </a:rPr>
              <a:t>   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Pamphlet written by Kathleen Lonsdale on Prison Reform in 1943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After beginning her research career, in 1927 Yardley married Thomas Jackson Lonsdale. They had three children – Jane, Nancy, and Stephen. Stephen became a medical doctor and worked for several years in 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3366CC"/>
                </a:solidFill>
                <a:effectLst/>
                <a:latin typeface="Arial" panose="020B0604020202020204" pitchFamily="34" charset="0"/>
                <a:hlinkClick r:id="rId2" tooltip="Nyasaland"/>
              </a:rPr>
              <a:t>Nyasaland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(now 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3366CC"/>
                </a:solidFill>
                <a:effectLst/>
                <a:latin typeface="Arial" panose="020B0604020202020204" pitchFamily="34" charset="0"/>
                <a:hlinkClick r:id="rId3" tooltip="Malawi"/>
              </a:rPr>
              <a:t>Malawi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).</a:t>
            </a:r>
            <a:r>
              <a:rPr kumimoji="0" lang="en-US" altLang="en-US" sz="1200" b="0" i="0" u="none" strike="noStrike" cap="none" normalizeH="0" baseline="30000" dirty="0">
                <a:ln>
                  <a:noFill/>
                </a:ln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[</a:t>
            </a:r>
            <a:r>
              <a:rPr kumimoji="0" lang="en-US" altLang="en-US" sz="1200" b="0" i="1" u="none" strike="noStrike" cap="none" normalizeH="0" baseline="30000" dirty="0">
                <a:ln>
                  <a:noFill/>
                </a:ln>
                <a:solidFill>
                  <a:srgbClr val="3366CC"/>
                </a:solidFill>
                <a:effectLst/>
                <a:latin typeface="Arial" panose="020B0604020202020204" pitchFamily="34" charset="0"/>
                <a:hlinkClick r:id="rId4" tooltip="Wikipedia:Citation needed"/>
              </a:rPr>
              <a:t>citation needed</a:t>
            </a:r>
            <a:r>
              <a:rPr kumimoji="0" lang="en-US" altLang="en-US" sz="1200" b="0" i="0" u="none" strike="noStrike" cap="none" normalizeH="0" baseline="30000" dirty="0">
                <a:ln>
                  <a:noFill/>
                </a:ln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]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2021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Lonsdale was a 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3366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5" tooltip="Vegetarianism"/>
              </a:rPr>
              <a:t>vegetarian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2021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and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rgbClr val="2021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teetotaller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2021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kumimoji="0" lang="en-US" altLang="en-US" sz="1200" b="0" i="0" u="none" strike="noStrike" cap="none" normalizeH="0" baseline="30000" dirty="0">
                <a:ln>
                  <a:noFill/>
                </a:ln>
                <a:solidFill>
                  <a:srgbClr val="3366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[1]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8600" b="1" i="0" u="none" strike="noStrike" cap="none" normalizeH="0" baseline="0" dirty="0">
              <a:ln>
                <a:noFill/>
              </a:ln>
              <a:solidFill>
                <a:srgbClr val="101418"/>
              </a:solidFill>
              <a:effectLst/>
              <a:latin typeface="inherit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600" b="1" i="0" u="none" strike="noStrike" cap="none" normalizeH="0" baseline="0" dirty="0">
                <a:ln>
                  <a:noFill/>
                </a:ln>
                <a:solidFill>
                  <a:srgbClr val="101418"/>
                </a:solidFill>
                <a:effectLst/>
                <a:latin typeface="inherit"/>
                <a:cs typeface="Arial" panose="020B0604020202020204" pitchFamily="34" charset="0"/>
              </a:rPr>
              <a:t>Pacifism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2021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Though she had been brought up in the Baptist denomination as a child, Kathleen Lonsdale became a 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3366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7" tooltip="Religious Society of Friends"/>
              </a:rPr>
              <a:t>Quaker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2021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in 1935, simultaneously with her husband. Already committed 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3366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8" tooltip="Pacifism"/>
              </a:rPr>
              <a:t>pacifists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2021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both were attracted to Quakerism for this reason.</a:t>
            </a:r>
            <a:r>
              <a:rPr kumimoji="0" lang="en-US" altLang="en-US" sz="1200" b="0" i="0" u="none" strike="noStrike" cap="none" normalizeH="0" baseline="30000" dirty="0">
                <a:ln>
                  <a:noFill/>
                </a:ln>
                <a:solidFill>
                  <a:srgbClr val="3366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9"/>
              </a:rPr>
              <a:t>[36]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2021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She was a Sponsor of the 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3366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10" tooltip="Peace Pledge Union"/>
              </a:rPr>
              <a:t>Peace Pledge Union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2021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kumimoji="0" lang="en-US" altLang="en-US" sz="1200" b="0" i="0" u="none" strike="noStrike" cap="none" normalizeH="0" baseline="30000" dirty="0">
                <a:ln>
                  <a:noFill/>
                </a:ln>
                <a:solidFill>
                  <a:srgbClr val="3366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11"/>
              </a:rPr>
              <a:t>[37]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2021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She served a month in 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3366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12" tooltip="Holloway (HM Prison)"/>
              </a:rPr>
              <a:t>Holloway prison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2021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during the 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3366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13" tooltip="Second World War"/>
              </a:rPr>
              <a:t>Second World War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2021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because she refused to register for civil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rgbClr val="2021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defence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2021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duties or to pay a fine for refusing to register. During this time she experienced a range of issues which would eventually result in Lonsdale becoming a 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3366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14" tooltip="Prison reform"/>
              </a:rPr>
              <a:t>prison reform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2021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activist</a:t>
            </a:r>
            <a:r>
              <a:rPr kumimoji="0" lang="en-US" altLang="en-US" sz="1200" b="0" i="0" u="none" strike="noStrike" cap="none" normalizeH="0" baseline="30000" dirty="0">
                <a:ln>
                  <a:noFill/>
                </a:ln>
                <a:solidFill>
                  <a:srgbClr val="3366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15"/>
              </a:rPr>
              <a:t>[38]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2021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and she joined the 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3366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16" tooltip="Howard League for Penal Reform"/>
              </a:rPr>
              <a:t>Howard League for Penal Reform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2021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kumimoji="0" lang="en-US" altLang="en-US" sz="1200" b="0" i="0" u="none" strike="noStrike" cap="none" normalizeH="0" baseline="30000" dirty="0">
                <a:ln>
                  <a:noFill/>
                </a:ln>
                <a:solidFill>
                  <a:srgbClr val="3366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17"/>
              </a:rPr>
              <a:t>[39]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I was not prepared for was the general insanity of an administrative system in which lip service is paid to the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195" name="Picture 3" descr="Pamphlet written by Kathleen Lonsdale on Prison Reform in 1943">
            <a:hlinkClick r:id="rId18"/>
            <a:extLst>
              <a:ext uri="{FF2B5EF4-FFF2-40B4-BE49-F238E27FC236}">
                <a16:creationId xmlns:a16="http://schemas.microsoft.com/office/drawing/2014/main" id="{B871453D-F435-7CEF-B1D8-6A4AE21D85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00" y="-4127500"/>
            <a:ext cx="3175000" cy="459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4">
            <a:extLst>
              <a:ext uri="{FF2B5EF4-FFF2-40B4-BE49-F238E27FC236}">
                <a16:creationId xmlns:a16="http://schemas.microsoft.com/office/drawing/2014/main" id="{88B8DAF8-A273-0F3D-0C5E-B189C47861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39675" numCol="1" anchor="ctr" anchorCtr="0" compatLnSpc="1">
            <a:prstTxWarp prst="textNoShape">
              <a:avLst/>
            </a:prstTxWarp>
            <a:spAutoFit/>
          </a:bodyPr>
          <a:lstStyle>
            <a:lvl1pPr eaLnBrk="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sng" strike="noStrike" cap="none" normalizeH="0" baseline="0">
                <a:ln>
                  <a:noFill/>
                </a:ln>
                <a:solidFill>
                  <a:srgbClr val="3056A9"/>
                </a:solidFill>
                <a:effectLst/>
                <a:latin typeface="Arial" panose="020B0604020202020204" pitchFamily="34" charset="0"/>
              </a:rPr>
              <a:t>  </a:t>
            </a:r>
            <a:r>
              <a:rPr kumimoji="0" lang="en-US" altLang="en-US" sz="28900" b="0" i="0" u="sng" strike="noStrike" cap="none" normalizeH="0" baseline="0">
                <a:ln>
                  <a:noFill/>
                </a:ln>
                <a:solidFill>
                  <a:srgbClr val="3056A9"/>
                </a:solidFill>
                <a:effectLst/>
                <a:latin typeface="Arial" panose="020B0604020202020204" pitchFamily="34" charset="0"/>
              </a:rPr>
              <a:t>    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Pamphlet written by Kathleen Lonsdale on Prison Reform in 1943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rgbClr val="2021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After beginning her research career, in 1927 Yardley married Thomas Jackson Lonsdale. They had three children – Jane, Nancy, and Stephen. Stephen became a medical doctor and worked for several years in </a:t>
            </a: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rgbClr val="3366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2" tooltip="Nyasaland"/>
              </a:rPr>
              <a:t>Nyasaland</a:t>
            </a: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rgbClr val="2021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(now </a:t>
            </a: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rgbClr val="3366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3" tooltip="Malawi"/>
              </a:rPr>
              <a:t>Malawi</a:t>
            </a: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rgbClr val="2021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  <a:r>
              <a:rPr kumimoji="0" lang="en-US" altLang="en-US" sz="1200" b="0" i="0" u="none" strike="noStrike" cap="none" normalizeH="0" baseline="30000">
                <a:ln>
                  <a:noFill/>
                </a:ln>
                <a:solidFill>
                  <a:srgbClr val="2021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[</a:t>
            </a:r>
            <a:r>
              <a:rPr kumimoji="0" lang="en-US" altLang="en-US" sz="1200" b="0" i="1" u="none" strike="noStrike" cap="none" normalizeH="0" baseline="30000">
                <a:ln>
                  <a:noFill/>
                </a:ln>
                <a:solidFill>
                  <a:srgbClr val="3366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4" tooltip="Wikipedia:Citation needed"/>
              </a:rPr>
              <a:t>citation needed</a:t>
            </a:r>
            <a:r>
              <a:rPr kumimoji="0" lang="en-US" altLang="en-US" sz="1200" b="0" i="0" u="none" strike="noStrike" cap="none" normalizeH="0" baseline="30000">
                <a:ln>
                  <a:noFill/>
                </a:ln>
                <a:solidFill>
                  <a:srgbClr val="2021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  <a:endParaRPr kumimoji="0" lang="en-US" altLang="en-US" sz="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rgbClr val="2021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Lonsdale was a </a:t>
            </a: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rgbClr val="3366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5" tooltip="Vegetarianism"/>
              </a:rPr>
              <a:t>vegetarian</a:t>
            </a: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rgbClr val="2021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and teetotaller.</a:t>
            </a:r>
            <a:r>
              <a:rPr kumimoji="0" lang="en-US" altLang="en-US" sz="1200" b="0" i="0" u="none" strike="noStrike" cap="none" normalizeH="0" baseline="30000">
                <a:ln>
                  <a:noFill/>
                </a:ln>
                <a:solidFill>
                  <a:srgbClr val="3366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[1]</a:t>
            </a:r>
            <a:endParaRPr kumimoji="0" lang="en-US" altLang="en-US" sz="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8600" b="1" i="0" u="none" strike="noStrike" cap="none" normalizeH="0" baseline="0">
              <a:ln>
                <a:noFill/>
              </a:ln>
              <a:solidFill>
                <a:srgbClr val="101418"/>
              </a:solidFill>
              <a:effectLst/>
              <a:latin typeface="inherit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600" b="1" i="0" u="none" strike="noStrike" cap="none" normalizeH="0" baseline="0">
                <a:ln>
                  <a:noFill/>
                </a:ln>
                <a:solidFill>
                  <a:srgbClr val="101418"/>
                </a:solidFill>
                <a:effectLst/>
                <a:latin typeface="inherit"/>
                <a:cs typeface="Arial" panose="020B0604020202020204" pitchFamily="34" charset="0"/>
              </a:rPr>
              <a:t>Pacifism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rgbClr val="2021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Though she had been brought up in the Baptist denomination as a child, Kathleen Lonsdale became a </a:t>
            </a: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rgbClr val="3366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7" tooltip="Religious Society of Friends"/>
              </a:rPr>
              <a:t>Quaker</a:t>
            </a: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rgbClr val="2021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in 1935, simultaneously with her husband. Already committed </a:t>
            </a: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rgbClr val="3366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8" tooltip="Pacifism"/>
              </a:rPr>
              <a:t>pacifists</a:t>
            </a: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rgbClr val="2021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both were attracted to Quakerism for this reason.</a:t>
            </a:r>
            <a:r>
              <a:rPr kumimoji="0" lang="en-US" altLang="en-US" sz="1200" b="0" i="0" u="none" strike="noStrike" cap="none" normalizeH="0" baseline="30000">
                <a:ln>
                  <a:noFill/>
                </a:ln>
                <a:solidFill>
                  <a:srgbClr val="3366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9"/>
              </a:rPr>
              <a:t>[36]</a:t>
            </a: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rgbClr val="2021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She was a Sponsor of the </a:t>
            </a: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rgbClr val="3366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10" tooltip="Peace Pledge Union"/>
              </a:rPr>
              <a:t>Peace Pledge Union</a:t>
            </a: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rgbClr val="2021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kumimoji="0" lang="en-US" altLang="en-US" sz="1200" b="0" i="0" u="none" strike="noStrike" cap="none" normalizeH="0" baseline="30000">
                <a:ln>
                  <a:noFill/>
                </a:ln>
                <a:solidFill>
                  <a:srgbClr val="3366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11"/>
              </a:rPr>
              <a:t>[37]</a:t>
            </a:r>
            <a:endParaRPr kumimoji="0" lang="en-US" altLang="en-US" sz="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rgbClr val="2021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She served a month in </a:t>
            </a: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rgbClr val="3366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12" tooltip="Holloway (HM Prison)"/>
              </a:rPr>
              <a:t>Holloway prison</a:t>
            </a: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rgbClr val="2021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during the </a:t>
            </a: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rgbClr val="3366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13" tooltip="Second World War"/>
              </a:rPr>
              <a:t>Second World War</a:t>
            </a: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rgbClr val="2021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because she refused to register for civil defence duties or to pay a fine for refusing to register. During this time she experienced a range of issues which would eventually result in Lonsdale becoming a </a:t>
            </a: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rgbClr val="3366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14" tooltip="Prison reform"/>
              </a:rPr>
              <a:t>prison reform</a:t>
            </a: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rgbClr val="2021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activist</a:t>
            </a:r>
            <a:r>
              <a:rPr kumimoji="0" lang="en-US" altLang="en-US" sz="1200" b="0" i="0" u="none" strike="noStrike" cap="none" normalizeH="0" baseline="30000">
                <a:ln>
                  <a:noFill/>
                </a:ln>
                <a:solidFill>
                  <a:srgbClr val="3366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15"/>
              </a:rPr>
              <a:t>[38]</a:t>
            </a: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rgbClr val="2021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and she joined the </a:t>
            </a: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rgbClr val="3366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16" tooltip="Howard League for Penal Reform"/>
              </a:rPr>
              <a:t>Howard League for Penal Reform</a:t>
            </a: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rgbClr val="2021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kumimoji="0" lang="en-US" altLang="en-US" sz="1200" b="0" i="0" u="none" strike="noStrike" cap="none" normalizeH="0" baseline="30000">
                <a:ln>
                  <a:noFill/>
                </a:ln>
                <a:solidFill>
                  <a:srgbClr val="3366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17"/>
              </a:rPr>
              <a:t>[39]</a:t>
            </a:r>
            <a:endParaRPr kumimoji="0" lang="en-US" altLang="en-US" sz="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I was not prepared for was the general insanity of an administrative system in which lip service is paid to the</a:t>
            </a:r>
          </a:p>
        </p:txBody>
      </p:sp>
      <p:pic>
        <p:nvPicPr>
          <p:cNvPr id="8197" name="Picture 5" descr="Pamphlet written by Kathleen Lonsdale on Prison Reform in 1943">
            <a:hlinkClick r:id="rId18"/>
            <a:extLst>
              <a:ext uri="{FF2B5EF4-FFF2-40B4-BE49-F238E27FC236}">
                <a16:creationId xmlns:a16="http://schemas.microsoft.com/office/drawing/2014/main" id="{263C0D48-22CA-6B09-7D5B-4A314616E7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400" y="-3975100"/>
            <a:ext cx="3175000" cy="459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09689660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3FBE72B-AE15-5CAF-9B58-0546271FE6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935" y="137485"/>
            <a:ext cx="1168400" cy="196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8421827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3371679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8992771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2244085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28606305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516511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John Dalton Tapestry">
            <a:extLst>
              <a:ext uri="{FF2B5EF4-FFF2-40B4-BE49-F238E27FC236}">
                <a16:creationId xmlns:a16="http://schemas.microsoft.com/office/drawing/2014/main" id="{5B784938-49F0-9B6C-0A92-BEBB623D5A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3787" y="696686"/>
            <a:ext cx="9195084" cy="548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23F597B-1401-69B4-D896-AF64F61926D8}"/>
              </a:ext>
            </a:extLst>
          </p:cNvPr>
          <p:cNvSpPr txBox="1"/>
          <p:nvPr/>
        </p:nvSpPr>
        <p:spPr>
          <a:xfrm>
            <a:off x="432322" y="6324600"/>
            <a:ext cx="8711678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https://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www.quaker-tapestry.co.uk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/2021/03/19/john-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dalton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-scientist-quaker-and-pioneer/</a:t>
            </a:r>
          </a:p>
        </p:txBody>
      </p:sp>
    </p:spTree>
    <p:extLst>
      <p:ext uri="{BB962C8B-B14F-4D97-AF65-F5344CB8AC3E}">
        <p14:creationId xmlns:p14="http://schemas.microsoft.com/office/powerpoint/2010/main" val="2495524703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William Allen print">
            <a:extLst>
              <a:ext uri="{FF2B5EF4-FFF2-40B4-BE49-F238E27FC236}">
                <a16:creationId xmlns:a16="http://schemas.microsoft.com/office/drawing/2014/main" id="{862B82EA-9952-B1F5-F57B-7E66B26D05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625" y="0"/>
            <a:ext cx="803116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2292766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Atomic Theory Archives - Quaker Tapestry">
            <a:extLst>
              <a:ext uri="{FF2B5EF4-FFF2-40B4-BE49-F238E27FC236}">
                <a16:creationId xmlns:a16="http://schemas.microsoft.com/office/drawing/2014/main" id="{33B65D2D-2BD5-51C5-BF6B-984D143A83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5038" y="0"/>
            <a:ext cx="473233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44863333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kathleen lonsdale Archives - Quaker Tapestry">
            <a:extLst>
              <a:ext uri="{FF2B5EF4-FFF2-40B4-BE49-F238E27FC236}">
                <a16:creationId xmlns:a16="http://schemas.microsoft.com/office/drawing/2014/main" id="{FCA10F02-D563-48BC-CE3A-E44DAA028F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3488" y="0"/>
            <a:ext cx="413543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66743322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The Quaker Tapestry Museum, Kendal | Visit Cumbria">
            <a:extLst>
              <a:ext uri="{FF2B5EF4-FFF2-40B4-BE49-F238E27FC236}">
                <a16:creationId xmlns:a16="http://schemas.microsoft.com/office/drawing/2014/main" id="{C5EDAA2B-97AE-84A5-9B0A-7271262A54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241300"/>
            <a:ext cx="7620000" cy="6375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2056558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02DEDDB-2476-9E4E-7B45-06560D1E7D1E}"/>
              </a:ext>
            </a:extLst>
          </p:cNvPr>
          <p:cNvSpPr txBox="1"/>
          <p:nvPr/>
        </p:nvSpPr>
        <p:spPr>
          <a:xfrm>
            <a:off x="626724" y="801384"/>
            <a:ext cx="5095304" cy="2585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* Quaker principles</a:t>
            </a: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* How does PMR reconcile science and Quakerism</a:t>
            </a:r>
          </a:p>
          <a:p>
            <a:pPr marL="285750" marR="0" indent="-28575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What was the scientific background at the time?</a:t>
            </a:r>
          </a:p>
          <a:p>
            <a:pPr marL="285750" marR="0" indent="-28575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dirty="0"/>
              <a:t>What were quaker networks, schools and industry</a:t>
            </a:r>
          </a:p>
          <a:p>
            <a:pPr marL="285750" marR="0" indent="-28575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dirty="0"/>
              <a:t>STEP</a:t>
            </a:r>
          </a:p>
          <a:p>
            <a:pPr marL="285750" marR="0" indent="-28575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Effect 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of dissensi</a:t>
            </a:r>
            <a:r>
              <a:rPr lang="en-US"/>
              <a:t>on</a:t>
            </a:r>
          </a:p>
          <a:p>
            <a:pPr marL="285750" marR="0" indent="-28575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  <a:p>
            <a:pPr marL="285750" marR="0" indent="-28575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  <a:p>
            <a:pPr marL="285750" marR="0" indent="-28575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54003705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3386DE3-8F66-23B6-662F-38A8C3554B21}"/>
              </a:ext>
            </a:extLst>
          </p:cNvPr>
          <p:cNvSpPr txBox="1"/>
          <p:nvPr/>
        </p:nvSpPr>
        <p:spPr>
          <a:xfrm>
            <a:off x="1109609" y="1058238"/>
            <a:ext cx="7607209" cy="92332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The finding of one generation will not serve for the next. It tarnishes </a:t>
            </a: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rapidly except it be reserved with an ever-renewed spirit of seeking.</a:t>
            </a: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GB" sz="1800" i="1" u="none" strike="noStrike" cap="none" spc="0" normalizeH="0" baseline="0" dirty="0">
                <a:ln>
                  <a:noFill/>
                </a:ln>
                <a:solidFill>
                  <a:srgbClr val="202122"/>
                </a:solidFill>
                <a:uFillTx/>
                <a:latin typeface="Arial" panose="020B0604020202020204" pitchFamily="34" charset="0"/>
                <a:ea typeface="+mj-ea"/>
                <a:cs typeface="+mj-cs"/>
                <a:sym typeface="Calibri"/>
              </a:rPr>
              <a:t>Arthur Eddington</a:t>
            </a:r>
            <a:endParaRPr kumimoji="0" lang="en-US" sz="1800" i="1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89590630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4D72DA7-4B98-AD6A-96C6-953072EFBE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034" y="157038"/>
            <a:ext cx="7366000" cy="44069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689B045-777D-0F92-5999-2AEDD5CE4FFF}"/>
              </a:ext>
            </a:extLst>
          </p:cNvPr>
          <p:cNvSpPr txBox="1"/>
          <p:nvPr/>
        </p:nvSpPr>
        <p:spPr>
          <a:xfrm>
            <a:off x="241729" y="6135205"/>
            <a:ext cx="6308776" cy="6463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Scanned images copyright © 2017, </a:t>
            </a: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Royal 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Societyhttps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://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doi.org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/10.1098/rstl.1783.0008open_in_new</a:t>
            </a:r>
          </a:p>
        </p:txBody>
      </p:sp>
    </p:spTree>
    <p:extLst>
      <p:ext uri="{BB962C8B-B14F-4D97-AF65-F5344CB8AC3E}">
        <p14:creationId xmlns:p14="http://schemas.microsoft.com/office/powerpoint/2010/main" val="2615719185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125B554-F1D8-FE6D-F5DE-1480BDB9911C}"/>
              </a:ext>
            </a:extLst>
          </p:cNvPr>
          <p:cNvSpPr txBox="1"/>
          <p:nvPr/>
        </p:nvSpPr>
        <p:spPr>
          <a:xfrm>
            <a:off x="2286000" y="3108403"/>
            <a:ext cx="4572000" cy="64633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upload.wikimedia.org</a:t>
            </a:r>
            <a:r>
              <a:rPr lang="en-US" dirty="0"/>
              <a:t>/</a:t>
            </a:r>
            <a:r>
              <a:rPr lang="en-US" dirty="0" err="1"/>
              <a:t>wikipedia</a:t>
            </a:r>
            <a:r>
              <a:rPr lang="en-US" dirty="0"/>
              <a:t>/commons/0/0f/Dalton%27s_Element_List.jpg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C148934-0EF7-C8DC-B126-5267D18725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8513" y="0"/>
            <a:ext cx="500538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4662559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6AC5B30F-741C-9DB1-E63E-F241B728A0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90746" y="-246592"/>
            <a:ext cx="5087882" cy="69710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Reproduction of drawing of atomic formulae (molecular formulae (reproductions))">
            <a:extLst>
              <a:ext uri="{FF2B5EF4-FFF2-40B4-BE49-F238E27FC236}">
                <a16:creationId xmlns:a16="http://schemas.microsoft.com/office/drawing/2014/main" id="{4FEC0490-ECA9-1C73-69B7-8EE58C66C2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7136" y="157013"/>
            <a:ext cx="5931845" cy="3558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8109502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12BE3F8D-68D8-F03F-7FF8-38E7476204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7320338" cy="4880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7624F07-56EE-4D30-CBD9-3DC430911C1D}"/>
              </a:ext>
            </a:extLst>
          </p:cNvPr>
          <p:cNvSpPr txBox="1"/>
          <p:nvPr/>
        </p:nvSpPr>
        <p:spPr>
          <a:xfrm>
            <a:off x="323636" y="5086783"/>
            <a:ext cx="4572000" cy="147732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/>
            <a:r>
              <a:rPr lang="en-GB" b="0" i="0" dirty="0">
                <a:solidFill>
                  <a:srgbClr val="CCCCCC"/>
                </a:solidFill>
                <a:effectLst/>
                <a:latin typeface="SMGsans"/>
              </a:rPr>
              <a:t>Five wooden balls, made by Peter Ewart of Manchester c.1810, and used by John Dalton for demonstrating his atomic theory c. 1810–42</a:t>
            </a:r>
          </a:p>
          <a:p>
            <a:r>
              <a:rPr lang="en-GB" dirty="0"/>
              <a:t>Science Museum Group Collection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0150069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Vertebrate visual opsin - Wikipedia">
            <a:extLst>
              <a:ext uri="{FF2B5EF4-FFF2-40B4-BE49-F238E27FC236}">
                <a16:creationId xmlns:a16="http://schemas.microsoft.com/office/drawing/2014/main" id="{A58A1CE6-812E-2030-8C07-CE5D85DFF2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26" y="71920"/>
            <a:ext cx="3210424" cy="49781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F5EF20B-47F0-F469-65EA-7795066A5CF4}"/>
              </a:ext>
            </a:extLst>
          </p:cNvPr>
          <p:cNvSpPr txBox="1"/>
          <p:nvPr/>
        </p:nvSpPr>
        <p:spPr>
          <a:xfrm>
            <a:off x="467474" y="5430766"/>
            <a:ext cx="4572000" cy="147732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GB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Three-dimensional structure of bovine rhodopsin. The seven transmembrane domains are shown in varying </a:t>
            </a:r>
            <a:r>
              <a:rPr lang="en-GB" b="0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colors</a:t>
            </a:r>
            <a:r>
              <a:rPr lang="en-GB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. The retinal </a:t>
            </a:r>
            <a:r>
              <a:rPr lang="en-GB" b="0" i="0" u="none" strike="noStrike" dirty="0">
                <a:solidFill>
                  <a:srgbClr val="3366CC"/>
                </a:solidFill>
                <a:effectLst/>
                <a:latin typeface="Arial" panose="020B0604020202020204" pitchFamily="34" charset="0"/>
                <a:hlinkClick r:id="rId3" tooltip="Chromophore"/>
              </a:rPr>
              <a:t>chromophore</a:t>
            </a:r>
            <a:r>
              <a:rPr lang="en-GB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is shown in red.</a:t>
            </a:r>
            <a:br>
              <a:rPr lang="en-GB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</a:br>
            <a:r>
              <a:rPr lang="en-GB" b="0" i="1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Wikipedia</a:t>
            </a:r>
            <a:endParaRPr lang="en-US" i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2CED10-C3B2-72E3-386F-6937CD72D418}"/>
              </a:ext>
            </a:extLst>
          </p:cNvPr>
          <p:cNvSpPr txBox="1"/>
          <p:nvPr/>
        </p:nvSpPr>
        <p:spPr>
          <a:xfrm>
            <a:off x="110444" y="5061436"/>
            <a:ext cx="5286060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  <a:hlinkClick r:id="rId4"/>
              </a:rPr>
              <a:t>https://en.wikipedia.org/wiki/Vertebrate_visual_opsin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0718A1-60D1-813C-8AED-0B190410F07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3945" y="254143"/>
            <a:ext cx="3937000" cy="4089400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9F5DB8B-8783-E29D-B8D6-5D9840815188}"/>
              </a:ext>
            </a:extLst>
          </p:cNvPr>
          <p:cNvCxnSpPr/>
          <p:nvPr/>
        </p:nvCxnSpPr>
        <p:spPr>
          <a:xfrm flipV="1">
            <a:off x="1993187" y="2085654"/>
            <a:ext cx="3046287" cy="339047"/>
          </a:xfrm>
          <a:prstGeom prst="straightConnector1">
            <a:avLst/>
          </a:prstGeom>
          <a:noFill/>
          <a:ln w="76200" cap="flat">
            <a:solidFill>
              <a:schemeClr val="accent2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83D2FFA-E230-1CA3-ACBC-A5BFC9E06F38}"/>
              </a:ext>
            </a:extLst>
          </p:cNvPr>
          <p:cNvSpPr txBox="1"/>
          <p:nvPr/>
        </p:nvSpPr>
        <p:spPr>
          <a:xfrm>
            <a:off x="5527498" y="4522828"/>
            <a:ext cx="3283910" cy="156965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/>
              <a:t>Atoms responsible </a:t>
            </a: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/>
              <a:t>for John Dalton’s</a:t>
            </a: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 err="1"/>
              <a:t>colour</a:t>
            </a:r>
            <a:r>
              <a:rPr lang="en-US" sz="3200" dirty="0"/>
              <a:t> blindness 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52892399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6FFBBFA-BB8B-3A65-8AA2-C8B22FADB9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507935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D6E5909-8551-6FDD-CEC8-3FFBA3D15B4E}"/>
              </a:ext>
            </a:extLst>
          </p:cNvPr>
          <p:cNvSpPr txBox="1"/>
          <p:nvPr/>
        </p:nvSpPr>
        <p:spPr>
          <a:xfrm>
            <a:off x="5638800" y="254472"/>
            <a:ext cx="3505200" cy="34163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GB" b="0" i="0" u="sng" dirty="0">
                <a:solidFill>
                  <a:srgbClr val="121212"/>
                </a:solidFill>
                <a:effectLst/>
                <a:latin typeface="Inter"/>
                <a:hlinkClick r:id="rId3"/>
              </a:rPr>
              <a:t>Wellcome Trust Corporate Archive</a:t>
            </a:r>
            <a:endParaRPr lang="en-GB" b="0" i="0" dirty="0">
              <a:solidFill>
                <a:srgbClr val="121212"/>
              </a:solidFill>
              <a:effectLst/>
              <a:latin typeface="Inter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121212"/>
                </a:solidFill>
                <a:effectLst/>
                <a:latin typeface="Inter"/>
              </a:rPr>
              <a:t>…</a:t>
            </a:r>
            <a:r>
              <a:rPr lang="en-GB" b="0" i="0" u="sng" dirty="0">
                <a:solidFill>
                  <a:srgbClr val="121212"/>
                </a:solidFill>
                <a:effectLst/>
                <a:latin typeface="Inter"/>
                <a:hlinkClick r:id="rId4"/>
              </a:rPr>
              <a:t>Direct activities WT/D</a:t>
            </a:r>
            <a:endParaRPr lang="en-GB" b="0" i="0" dirty="0">
              <a:solidFill>
                <a:srgbClr val="121212"/>
              </a:solidFill>
              <a:effectLst/>
              <a:latin typeface="Inter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sng" dirty="0">
                <a:solidFill>
                  <a:srgbClr val="121212"/>
                </a:solidFill>
                <a:effectLst/>
                <a:latin typeface="Inter"/>
                <a:hlinkClick r:id="rId5"/>
              </a:rPr>
              <a:t>Library and Museum WT/D/1</a:t>
            </a:r>
            <a:endParaRPr lang="en-GB" b="0" i="0" dirty="0">
              <a:solidFill>
                <a:srgbClr val="121212"/>
              </a:solidFill>
              <a:effectLst/>
              <a:latin typeface="Inter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sng" dirty="0">
                <a:solidFill>
                  <a:srgbClr val="121212"/>
                </a:solidFill>
                <a:effectLst/>
                <a:latin typeface="Inter"/>
                <a:hlinkClick r:id="rId6"/>
              </a:rPr>
              <a:t>Images from the photographic library WT/D/1/20</a:t>
            </a:r>
            <a:r>
              <a:rPr lang="en-GB" b="0" i="0" dirty="0">
                <a:solidFill>
                  <a:srgbClr val="121212"/>
                </a:solidFill>
                <a:effectLst/>
                <a:latin typeface="Inter"/>
              </a:rPr>
              <a:t>M0007729: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3600" b="1" i="0" dirty="0">
                <a:solidFill>
                  <a:srgbClr val="121212"/>
                </a:solidFill>
                <a:effectLst/>
                <a:latin typeface="Inter"/>
              </a:rPr>
              <a:t>Interior of the old pharmacy at Plough Court</a:t>
            </a:r>
            <a:r>
              <a:rPr lang="en-GB" b="1" i="0" dirty="0">
                <a:solidFill>
                  <a:srgbClr val="121212"/>
                </a:solidFill>
                <a:effectLst/>
                <a:latin typeface="Inter"/>
              </a:rPr>
              <a:t> </a:t>
            </a:r>
            <a:r>
              <a:rPr lang="en-GB" b="0" i="0" dirty="0">
                <a:solidFill>
                  <a:srgbClr val="121212"/>
                </a:solidFill>
                <a:effectLst/>
                <a:latin typeface="Inter"/>
              </a:rPr>
              <a:t>WT/D/1/20/1/66/62</a:t>
            </a:r>
          </a:p>
        </p:txBody>
      </p:sp>
    </p:spTree>
    <p:extLst>
      <p:ext uri="{BB962C8B-B14F-4D97-AF65-F5344CB8AC3E}">
        <p14:creationId xmlns:p14="http://schemas.microsoft.com/office/powerpoint/2010/main" val="26187748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CF165DC-B911-7008-E2FA-F7BC3D45A1F5}"/>
              </a:ext>
            </a:extLst>
          </p:cNvPr>
          <p:cNvSpPr txBox="1"/>
          <p:nvPr/>
        </p:nvSpPr>
        <p:spPr>
          <a:xfrm>
            <a:off x="542260" y="1095153"/>
            <a:ext cx="22681541" cy="1948225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GB" b="1" dirty="0">
                <a:effectLst/>
              </a:rPr>
              <a:t>Plough Court Pharmacy Medicines (1715-1927)</a:t>
            </a:r>
          </a:p>
          <a:p>
            <a:r>
              <a:rPr lang="en-GB" b="1" dirty="0">
                <a:effectLst/>
              </a:rPr>
              <a:t>Background: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>
                <a:effectLst/>
              </a:rPr>
              <a:t>Founded</a:t>
            </a:r>
            <a:r>
              <a:rPr lang="en-GB" dirty="0">
                <a:effectLst/>
              </a:rPr>
              <a:t>: 1715 in London by Silvanus Bevan (Quaker)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>
                <a:effectLst/>
              </a:rPr>
              <a:t>Location</a:t>
            </a:r>
            <a:r>
              <a:rPr lang="en-GB" dirty="0">
                <a:effectLst/>
              </a:rPr>
              <a:t>: Plough Court, Lombard Street, London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>
                <a:effectLst/>
              </a:rPr>
              <a:t>Significance</a:t>
            </a:r>
            <a:r>
              <a:rPr lang="en-GB" dirty="0">
                <a:effectLst/>
              </a:rPr>
              <a:t>: One of the most famous pharmacies of its era, later became Allen &amp; </a:t>
            </a:r>
            <a:r>
              <a:rPr lang="en-GB" dirty="0" err="1">
                <a:effectLst/>
              </a:rPr>
              <a:t>Hanburys</a:t>
            </a:r>
            <a:endParaRPr lang="en-GB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>
                <a:effectLst/>
              </a:rPr>
              <a:t>Quaker connection</a:t>
            </a:r>
            <a:r>
              <a:rPr lang="en-GB" dirty="0">
                <a:effectLst/>
              </a:rPr>
              <a:t>: Founded and run by Quakers, reflecting their values of integrity and service</a:t>
            </a:r>
          </a:p>
          <a:p>
            <a:r>
              <a:rPr lang="en-GB" b="1" dirty="0">
                <a:effectLst/>
              </a:rPr>
              <a:t>Categories of Medicines Sold:</a:t>
            </a:r>
          </a:p>
          <a:p>
            <a:r>
              <a:rPr lang="en-GB" b="1" dirty="0">
                <a:effectLst/>
              </a:rPr>
              <a:t>1. Herbal Remedies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>
                <a:effectLst/>
              </a:rPr>
              <a:t>Digitalis (Foxglove)</a:t>
            </a:r>
            <a:r>
              <a:rPr lang="en-GB" dirty="0">
                <a:effectLst/>
              </a:rPr>
              <a:t>: For heart conditions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>
                <a:effectLst/>
              </a:rPr>
              <a:t>Willow Bark</a:t>
            </a:r>
            <a:r>
              <a:rPr lang="en-GB" dirty="0">
                <a:effectLst/>
              </a:rPr>
              <a:t>: Pain relief and fever reduction (precursor to aspirin)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>
                <a:effectLst/>
              </a:rPr>
              <a:t>Chamomile</a:t>
            </a:r>
            <a:r>
              <a:rPr lang="en-GB" dirty="0">
                <a:effectLst/>
              </a:rPr>
              <a:t>: Digestive issues and anxiety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>
                <a:effectLst/>
              </a:rPr>
              <a:t>Peppermint</a:t>
            </a:r>
            <a:r>
              <a:rPr lang="en-GB" dirty="0">
                <a:effectLst/>
              </a:rPr>
              <a:t>: Digestive problems and nausea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>
                <a:effectLst/>
              </a:rPr>
              <a:t>Valerian</a:t>
            </a:r>
            <a:r>
              <a:rPr lang="en-GB" dirty="0">
                <a:effectLst/>
              </a:rPr>
              <a:t>: Anxiety and sleep disorders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>
                <a:effectLst/>
              </a:rPr>
              <a:t>Rose Water</a:t>
            </a:r>
            <a:r>
              <a:rPr lang="en-GB" dirty="0">
                <a:effectLst/>
              </a:rPr>
              <a:t>: Skin care and mild astringent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>
                <a:effectLst/>
              </a:rPr>
              <a:t>Peppermint Water</a:t>
            </a:r>
            <a:r>
              <a:rPr lang="en-GB" dirty="0">
                <a:effectLst/>
              </a:rPr>
              <a:t>: Digestive aid</a:t>
            </a:r>
          </a:p>
          <a:p>
            <a:r>
              <a:rPr lang="en-GB" b="1" dirty="0">
                <a:effectLst/>
              </a:rPr>
              <a:t>2. Tinctures and Elixirs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>
                <a:effectLst/>
              </a:rPr>
              <a:t>Laudanum</a:t>
            </a:r>
            <a:r>
              <a:rPr lang="en-GB" dirty="0">
                <a:effectLst/>
              </a:rPr>
              <a:t>: Opium tincture for pain relief and coughs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 err="1">
                <a:effectLst/>
              </a:rPr>
              <a:t>Daffy's</a:t>
            </a:r>
            <a:r>
              <a:rPr lang="en-GB" b="1" dirty="0">
                <a:effectLst/>
              </a:rPr>
              <a:t> Elixir</a:t>
            </a:r>
            <a:r>
              <a:rPr lang="en-GB" dirty="0">
                <a:effectLst/>
              </a:rPr>
              <a:t>: Popular digestive tonic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>
                <a:effectLst/>
              </a:rPr>
              <a:t>Godfrey's Cordial</a:t>
            </a:r>
            <a:r>
              <a:rPr lang="en-GB" dirty="0">
                <a:effectLst/>
              </a:rPr>
              <a:t>: Infant soothing preparation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>
                <a:effectLst/>
              </a:rPr>
              <a:t>Various bitters</a:t>
            </a:r>
            <a:r>
              <a:rPr lang="en-GB" dirty="0">
                <a:effectLst/>
              </a:rPr>
              <a:t>: For digestive health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>
                <a:effectLst/>
              </a:rPr>
              <a:t>Alcohol-based solutions</a:t>
            </a:r>
            <a:r>
              <a:rPr lang="en-GB" dirty="0">
                <a:effectLst/>
              </a:rPr>
              <a:t>: For preservation and easy administration</a:t>
            </a:r>
          </a:p>
          <a:p>
            <a:r>
              <a:rPr lang="en-GB" b="1" dirty="0">
                <a:effectLst/>
              </a:rPr>
              <a:t>3. Chemical Compounds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>
                <a:effectLst/>
              </a:rPr>
              <a:t>Mercury compounds</a:t>
            </a:r>
            <a:r>
              <a:rPr lang="en-GB" dirty="0">
                <a:effectLst/>
              </a:rPr>
              <a:t>: For syphilis treatment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>
                <a:effectLst/>
              </a:rPr>
              <a:t>Calomel (mercurous chloride)</a:t>
            </a:r>
            <a:r>
              <a:rPr lang="en-GB" dirty="0">
                <a:effectLst/>
              </a:rPr>
              <a:t>: Purgative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>
                <a:effectLst/>
              </a:rPr>
              <a:t>Quinine powder</a:t>
            </a:r>
            <a:r>
              <a:rPr lang="en-GB" dirty="0">
                <a:effectLst/>
              </a:rPr>
              <a:t>: Malaria treatment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>
                <a:effectLst/>
              </a:rPr>
              <a:t>Antimony</a:t>
            </a:r>
            <a:r>
              <a:rPr lang="en-GB" dirty="0">
                <a:effectLst/>
              </a:rPr>
              <a:t>: Emetic and purgative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>
                <a:effectLst/>
              </a:rPr>
              <a:t>Arsenic preparations</a:t>
            </a:r>
            <a:r>
              <a:rPr lang="en-GB" dirty="0">
                <a:effectLst/>
              </a:rPr>
              <a:t>: Small doses for various treatments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>
                <a:effectLst/>
              </a:rPr>
              <a:t>Lead acetate</a:t>
            </a:r>
            <a:r>
              <a:rPr lang="en-GB" dirty="0">
                <a:effectLst/>
              </a:rPr>
              <a:t>: In ointments and salves</a:t>
            </a:r>
          </a:p>
          <a:p>
            <a:r>
              <a:rPr lang="en-GB" b="1" dirty="0">
                <a:effectLst/>
              </a:rPr>
              <a:t>4. Topical Applications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>
                <a:effectLst/>
              </a:rPr>
              <a:t>Mercurial ointments</a:t>
            </a:r>
            <a:r>
              <a:rPr lang="en-GB" dirty="0">
                <a:effectLst/>
              </a:rPr>
              <a:t>: For skin conditions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 err="1">
                <a:effectLst/>
              </a:rPr>
              <a:t>Sulfur</a:t>
            </a:r>
            <a:r>
              <a:rPr lang="en-GB" b="1" dirty="0">
                <a:effectLst/>
              </a:rPr>
              <a:t> preparations</a:t>
            </a:r>
            <a:r>
              <a:rPr lang="en-GB" dirty="0">
                <a:effectLst/>
              </a:rPr>
              <a:t>: For skin problems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>
                <a:effectLst/>
              </a:rPr>
              <a:t>Zinc oxide ointments</a:t>
            </a:r>
            <a:r>
              <a:rPr lang="en-GB" dirty="0">
                <a:effectLst/>
              </a:rPr>
              <a:t>: For wounds and burns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>
                <a:effectLst/>
              </a:rPr>
              <a:t>Herbal salves</a:t>
            </a:r>
            <a:r>
              <a:rPr lang="en-GB" dirty="0">
                <a:effectLst/>
              </a:rPr>
              <a:t>: For wounds and inflammations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>
                <a:effectLst/>
              </a:rPr>
              <a:t>Poultices</a:t>
            </a:r>
            <a:r>
              <a:rPr lang="en-GB" dirty="0">
                <a:effectLst/>
              </a:rPr>
              <a:t>: For drawing out infections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>
                <a:effectLst/>
              </a:rPr>
              <a:t>Balms</a:t>
            </a:r>
            <a:r>
              <a:rPr lang="en-GB" dirty="0">
                <a:effectLst/>
              </a:rPr>
              <a:t>: For wound healing</a:t>
            </a:r>
          </a:p>
          <a:p>
            <a:r>
              <a:rPr lang="en-GB" b="1" dirty="0">
                <a:effectLst/>
              </a:rPr>
              <a:t>5. Patent Medicines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>
                <a:effectLst/>
              </a:rPr>
              <a:t>Proprietary formulations</a:t>
            </a:r>
            <a:r>
              <a:rPr lang="en-GB" dirty="0">
                <a:effectLst/>
              </a:rPr>
              <a:t>: Often with secret ingredients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>
                <a:effectLst/>
              </a:rPr>
              <a:t>Tonic preparations</a:t>
            </a:r>
            <a:r>
              <a:rPr lang="en-GB" dirty="0">
                <a:effectLst/>
              </a:rPr>
              <a:t>: For general health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>
                <a:effectLst/>
              </a:rPr>
              <a:t>Cough syrups</a:t>
            </a:r>
            <a:r>
              <a:rPr lang="en-GB" dirty="0">
                <a:effectLst/>
              </a:rPr>
              <a:t>: With honey and herbal extracts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>
                <a:effectLst/>
              </a:rPr>
              <a:t>Digestive aids</a:t>
            </a:r>
            <a:r>
              <a:rPr lang="en-GB" dirty="0">
                <a:effectLst/>
              </a:rPr>
              <a:t>: Various proprietary blends</a:t>
            </a:r>
          </a:p>
          <a:p>
            <a:r>
              <a:rPr lang="en-GB" b="1" dirty="0">
                <a:effectLst/>
              </a:rPr>
              <a:t>6. Apothecary Supplies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>
                <a:effectLst/>
              </a:rPr>
              <a:t>Empty bottles and containers</a:t>
            </a:r>
            <a:endParaRPr lang="en-GB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>
                <a:effectLst/>
              </a:rPr>
              <a:t>Scales and measuring equipment</a:t>
            </a:r>
            <a:endParaRPr lang="en-GB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>
                <a:effectLst/>
              </a:rPr>
              <a:t>Mortars and pestles</a:t>
            </a:r>
            <a:endParaRPr lang="en-GB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>
                <a:effectLst/>
              </a:rPr>
              <a:t>Distillation equipment</a:t>
            </a:r>
            <a:endParaRPr lang="en-GB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>
                <a:effectLst/>
              </a:rPr>
              <a:t>Ingredients for home remedies</a:t>
            </a:r>
            <a:endParaRPr lang="en-GB" dirty="0">
              <a:effectLst/>
            </a:endParaRPr>
          </a:p>
          <a:p>
            <a:r>
              <a:rPr lang="en-GB" b="1" dirty="0">
                <a:effectLst/>
              </a:rPr>
              <a:t>7. Specialized Preparations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>
                <a:effectLst/>
              </a:rPr>
              <a:t>Compounded prescriptions</a:t>
            </a:r>
            <a:r>
              <a:rPr lang="en-GB" dirty="0">
                <a:effectLst/>
              </a:rPr>
              <a:t>: Custom-made for individual patients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>
                <a:effectLst/>
              </a:rPr>
              <a:t>Pills and powders</a:t>
            </a:r>
            <a:r>
              <a:rPr lang="en-GB" dirty="0">
                <a:effectLst/>
              </a:rPr>
              <a:t>: Solid medication forms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>
                <a:effectLst/>
              </a:rPr>
              <a:t>Lozenges</a:t>
            </a:r>
            <a:r>
              <a:rPr lang="en-GB" dirty="0">
                <a:effectLst/>
              </a:rPr>
              <a:t>: For respiratory and digestive issues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>
                <a:effectLst/>
              </a:rPr>
              <a:t>Distilled waters</a:t>
            </a:r>
            <a:r>
              <a:rPr lang="en-GB" dirty="0">
                <a:effectLst/>
              </a:rPr>
              <a:t>: Floral and herbal waters</a:t>
            </a:r>
          </a:p>
          <a:p>
            <a:r>
              <a:rPr lang="en-GB" b="1" dirty="0">
                <a:effectLst/>
              </a:rPr>
              <a:t>Quaker Influence on the Pharmacy: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>
                <a:effectLst/>
              </a:rPr>
              <a:t>1. Quality and </a:t>
            </a:r>
            <a:r>
              <a:rPr lang="en-GB" b="1" dirty="0" err="1">
                <a:effectLst/>
              </a:rPr>
              <a:t>Integrity:</a:t>
            </a:r>
            <a:r>
              <a:rPr lang="en-GB" dirty="0" err="1">
                <a:effectLst/>
              </a:rPr>
              <a:t>Honest</a:t>
            </a:r>
            <a:r>
              <a:rPr lang="en-GB" dirty="0">
                <a:effectLst/>
              </a:rPr>
              <a:t> preparation and </a:t>
            </a:r>
            <a:r>
              <a:rPr lang="en-GB" dirty="0" err="1">
                <a:effectLst/>
              </a:rPr>
              <a:t>labeling</a:t>
            </a:r>
            <a:endParaRPr lang="en-GB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effectLst/>
              </a:rPr>
              <a:t>No adulteration of medicines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effectLst/>
              </a:rPr>
              <a:t>Fair pricing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>
                <a:effectLst/>
              </a:rPr>
              <a:t>2. Service to </a:t>
            </a:r>
            <a:r>
              <a:rPr lang="en-GB" b="1" dirty="0" err="1">
                <a:effectLst/>
              </a:rPr>
              <a:t>Community:</a:t>
            </a:r>
            <a:r>
              <a:rPr lang="en-GB" dirty="0" err="1">
                <a:effectLst/>
              </a:rPr>
              <a:t>Serving</a:t>
            </a:r>
            <a:r>
              <a:rPr lang="en-GB" dirty="0">
                <a:effectLst/>
              </a:rPr>
              <a:t> all people regardless of social status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effectLst/>
              </a:rPr>
              <a:t>Providing medicines to the poor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effectLst/>
              </a:rPr>
              <a:t>Educational role in health matters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>
                <a:effectLst/>
              </a:rPr>
              <a:t>3. Scientific </a:t>
            </a:r>
            <a:r>
              <a:rPr lang="en-GB" b="1" dirty="0" err="1">
                <a:effectLst/>
              </a:rPr>
              <a:t>Approach:</a:t>
            </a:r>
            <a:r>
              <a:rPr lang="en-GB" dirty="0" err="1">
                <a:effectLst/>
              </a:rPr>
              <a:t>Careful</a:t>
            </a:r>
            <a:r>
              <a:rPr lang="en-GB" dirty="0">
                <a:effectLst/>
              </a:rPr>
              <a:t> measurement and preparation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effectLst/>
              </a:rPr>
              <a:t>Record-keeping and documentation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effectLst/>
              </a:rPr>
              <a:t>Innovation in pharmaceutical techniques</a:t>
            </a:r>
          </a:p>
          <a:p>
            <a:r>
              <a:rPr lang="en-GB" b="1" dirty="0">
                <a:effectLst/>
              </a:rPr>
              <a:t>Historical Context: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>
                <a:effectLst/>
              </a:rPr>
              <a:t>Medical Understanding of the </a:t>
            </a:r>
            <a:r>
              <a:rPr lang="en-GB" b="1" dirty="0" err="1">
                <a:effectLst/>
              </a:rPr>
              <a:t>Era:</a:t>
            </a:r>
            <a:r>
              <a:rPr lang="en-GB" dirty="0" err="1">
                <a:effectLst/>
              </a:rPr>
              <a:t>Based</a:t>
            </a:r>
            <a:r>
              <a:rPr lang="en-GB" dirty="0">
                <a:effectLst/>
              </a:rPr>
              <a:t> on humoral theory and herbal medicine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effectLst/>
              </a:rPr>
              <a:t>Limited understanding of disease causes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effectLst/>
              </a:rPr>
              <a:t>Many treatments now considered dangerous or ineffective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effectLst/>
              </a:rPr>
              <a:t>Focus on symptom relief rather than cure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 err="1">
                <a:effectLst/>
              </a:rPr>
              <a:t>References:</a:t>
            </a:r>
            <a:r>
              <a:rPr lang="en-GB" dirty="0" err="1">
                <a:effectLst/>
              </a:rPr>
              <a:t>"Plough</a:t>
            </a:r>
            <a:r>
              <a:rPr lang="en-GB" dirty="0">
                <a:effectLst/>
              </a:rPr>
              <a:t> Court: The Story of a Notable Pharmacy, 1715-1927" by Ernest C. Cripps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 err="1">
                <a:effectLst/>
              </a:rPr>
              <a:t>Wellcome</a:t>
            </a:r>
            <a:r>
              <a:rPr lang="en-GB" dirty="0">
                <a:effectLst/>
              </a:rPr>
              <a:t> Collection archives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effectLst/>
              </a:rPr>
              <a:t>Historical pharmacy records</a:t>
            </a:r>
          </a:p>
          <a:p>
            <a:r>
              <a:rPr lang="en-GB" dirty="0">
                <a:effectLst/>
              </a:rPr>
              <a:t>The Plough Court Pharmacy represents an important example of how Quaker values of integrity, service, and scientific inquiry influenced the development of pharmaceutical practice in 18th and 19th century England.</a:t>
            </a: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45942128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Allen &amp; Hanburys - Wikipedia">
            <a:extLst>
              <a:ext uri="{FF2B5EF4-FFF2-40B4-BE49-F238E27FC236}">
                <a16:creationId xmlns:a16="http://schemas.microsoft.com/office/drawing/2014/main" id="{59B6D1F2-FF92-2DCA-A891-96D0CFE473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6153103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8" name="Picture 4" descr="File:Allen &amp; Hanburys, works at Bethnal Green Wellcome ...">
            <a:extLst>
              <a:ext uri="{FF2B5EF4-FFF2-40B4-BE49-F238E27FC236}">
                <a16:creationId xmlns:a16="http://schemas.microsoft.com/office/drawing/2014/main" id="{5B94DB08-E69B-0155-9239-8EDE442336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019" y="5316"/>
            <a:ext cx="7602279" cy="5427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FF40858-870E-7CA8-D39A-E6A80221CE58}"/>
              </a:ext>
            </a:extLst>
          </p:cNvPr>
          <p:cNvSpPr txBox="1"/>
          <p:nvPr/>
        </p:nvSpPr>
        <p:spPr>
          <a:xfrm>
            <a:off x="127591" y="5546031"/>
            <a:ext cx="9107619" cy="147732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algn="l"/>
            <a:r>
              <a:rPr lang="en-GB" b="0" i="0" dirty="0">
                <a:solidFill>
                  <a:srgbClr val="75757A"/>
                </a:solidFill>
                <a:effectLst/>
                <a:latin typeface="Arial" panose="020B0604020202020204" pitchFamily="34" charset="0"/>
              </a:rPr>
              <a:t>Creator: </a:t>
            </a:r>
            <a:r>
              <a:rPr lang="en-GB" b="0" i="0" dirty="0" err="1">
                <a:solidFill>
                  <a:srgbClr val="75757A"/>
                </a:solidFill>
                <a:effectLst/>
                <a:latin typeface="Arial" panose="020B0604020202020204" pitchFamily="34" charset="0"/>
              </a:rPr>
              <a:t>Wellcome</a:t>
            </a:r>
            <a:r>
              <a:rPr lang="en-GB" b="0" i="0" dirty="0">
                <a:solidFill>
                  <a:srgbClr val="75757A"/>
                </a:solidFill>
                <a:effectLst/>
                <a:latin typeface="Arial" panose="020B0604020202020204" pitchFamily="34" charset="0"/>
              </a:rPr>
              <a:t> Library, London </a:t>
            </a:r>
          </a:p>
          <a:p>
            <a:pPr algn="l"/>
            <a:r>
              <a:rPr lang="en-GB" b="0" i="0" dirty="0">
                <a:solidFill>
                  <a:srgbClr val="75757A"/>
                </a:solidFill>
                <a:effectLst/>
                <a:latin typeface="Arial" panose="020B0604020202020204" pitchFamily="34" charset="0"/>
              </a:rPr>
              <a:t>Copyright: Copyrighted work available under Creative Commons Attribution only licence </a:t>
            </a:r>
          </a:p>
          <a:p>
            <a:pPr algn="l"/>
            <a:r>
              <a:rPr lang="en-GB" b="0" i="0" dirty="0">
                <a:solidFill>
                  <a:srgbClr val="75757A"/>
                </a:solidFill>
                <a:effectLst/>
                <a:latin typeface="Arial" panose="020B0604020202020204" pitchFamily="34" charset="0"/>
              </a:rPr>
              <a:t>CC BY 4.0 http://</a:t>
            </a:r>
            <a:r>
              <a:rPr lang="en-GB" b="0" i="0" dirty="0" err="1">
                <a:solidFill>
                  <a:srgbClr val="75757A"/>
                </a:solidFill>
                <a:effectLst/>
                <a:latin typeface="Arial" panose="020B0604020202020204" pitchFamily="34" charset="0"/>
              </a:rPr>
              <a:t>creativecommons.org</a:t>
            </a:r>
            <a:r>
              <a:rPr lang="en-GB" b="0" i="0" dirty="0">
                <a:solidFill>
                  <a:srgbClr val="75757A"/>
                </a:solidFill>
                <a:effectLst/>
                <a:latin typeface="Arial" panose="020B0604020202020204" pitchFamily="34" charset="0"/>
              </a:rPr>
              <a:t>/licenses/by/4.0/</a:t>
            </a:r>
          </a:p>
          <a:p>
            <a:br>
              <a:rPr lang="en-GB" dirty="0"/>
            </a:b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40775371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Drawing of an aerial view | Hertfordshire Archives &amp; Local Studies (Ware.Industries pamphlet file)">
            <a:extLst>
              <a:ext uri="{FF2B5EF4-FFF2-40B4-BE49-F238E27FC236}">
                <a16:creationId xmlns:a16="http://schemas.microsoft.com/office/drawing/2014/main" id="{4324E653-2532-20C4-FA9A-0D5914EA3E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577850"/>
            <a:ext cx="8928100" cy="5702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35FAB04-C677-9BFD-156C-CC2F794ABCE4}"/>
              </a:ext>
            </a:extLst>
          </p:cNvPr>
          <p:cNvSpPr txBox="1"/>
          <p:nvPr/>
        </p:nvSpPr>
        <p:spPr>
          <a:xfrm>
            <a:off x="265813" y="6280150"/>
            <a:ext cx="6613347" cy="147732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algn="l" fontAlgn="base"/>
            <a:r>
              <a:rPr lang="en-GB" b="1" i="0" dirty="0">
                <a:solidFill>
                  <a:srgbClr val="151515"/>
                </a:solidFill>
                <a:effectLst/>
                <a:latin typeface="inherit"/>
              </a:rPr>
              <a:t>Allen &amp; Hanbury's, Ware showing the factory and mills in 1920</a:t>
            </a:r>
          </a:p>
          <a:p>
            <a:pPr algn="l" fontAlgn="base"/>
            <a:r>
              <a:rPr lang="en-GB" b="0" i="1" dirty="0">
                <a:solidFill>
                  <a:srgbClr val="151515"/>
                </a:solidFill>
                <a:effectLst/>
                <a:latin typeface="inherit"/>
              </a:rPr>
              <a:t>Hertfordshire Archives &amp; Local Studies (</a:t>
            </a:r>
            <a:r>
              <a:rPr lang="en-GB" b="0" i="1" dirty="0" err="1">
                <a:solidFill>
                  <a:srgbClr val="151515"/>
                </a:solidFill>
                <a:effectLst/>
                <a:latin typeface="inherit"/>
              </a:rPr>
              <a:t>Ware.Industries</a:t>
            </a:r>
            <a:r>
              <a:rPr lang="en-GB" b="0" i="1" dirty="0">
                <a:solidFill>
                  <a:srgbClr val="151515"/>
                </a:solidFill>
                <a:effectLst/>
                <a:latin typeface="inherit"/>
              </a:rPr>
              <a:t> pamphlet file)</a:t>
            </a:r>
          </a:p>
          <a:p>
            <a:pPr algn="l" fontAlgn="base"/>
            <a:br>
              <a:rPr lang="en-GB" b="0" i="0" dirty="0">
                <a:solidFill>
                  <a:srgbClr val="151515"/>
                </a:solidFill>
                <a:effectLst/>
                <a:latin typeface="Open Sans" panose="020B0606030504020204" pitchFamily="34" charset="0"/>
              </a:rPr>
            </a:br>
            <a:endParaRPr lang="en-GB" b="0" i="0" dirty="0">
              <a:solidFill>
                <a:srgbClr val="151515"/>
              </a:solidFill>
              <a:effectLst/>
              <a:latin typeface="Open Sans" panose="020B0606030504020204" pitchFamily="34" charset="0"/>
            </a:endParaRP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38867998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Courier New"/>
        <a:ea typeface="Courier New"/>
        <a:cs typeface="Courier New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Courier New"/>
        <a:ea typeface="Courier New"/>
        <a:cs typeface="Courier New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2566</TotalTime>
  <Words>1262</Words>
  <Application>Microsoft Macintosh PowerPoint</Application>
  <PresentationFormat>On-screen Show (4:3)</PresentationFormat>
  <Paragraphs>129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5" baseType="lpstr">
      <vt:lpstr>Arial</vt:lpstr>
      <vt:lpstr>Calibri</vt:lpstr>
      <vt:lpstr>Calibri Light</vt:lpstr>
      <vt:lpstr>Courier New</vt:lpstr>
      <vt:lpstr>inherit</vt:lpstr>
      <vt:lpstr>Inter</vt:lpstr>
      <vt:lpstr>Open Sans</vt:lpstr>
      <vt:lpstr>SMGsans</vt:lpstr>
      <vt:lpstr>Office Theme</vt:lpstr>
      <vt:lpstr>Quaker Scientists  Graham Waterhouse and Peter Murray-Rust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Microsoft Office User</cp:lastModifiedBy>
  <cp:revision>5</cp:revision>
  <dcterms:modified xsi:type="dcterms:W3CDTF">2025-09-17T09:34:26Z</dcterms:modified>
</cp:coreProperties>
</file>