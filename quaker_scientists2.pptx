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7" r:id="rId2"/>
    <p:sldId id="277" r:id="rId3"/>
    <p:sldId id="284" r:id="rId4"/>
    <p:sldId id="293" r:id="rId5"/>
    <p:sldId id="283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58" r:id="rId16"/>
    <p:sldId id="292" r:id="rId17"/>
    <p:sldId id="270" r:id="rId18"/>
    <p:sldId id="285" r:id="rId19"/>
    <p:sldId id="272" r:id="rId20"/>
    <p:sldId id="273" r:id="rId21"/>
    <p:sldId id="274" r:id="rId22"/>
    <p:sldId id="291" r:id="rId23"/>
    <p:sldId id="279" r:id="rId24"/>
    <p:sldId id="280" r:id="rId25"/>
    <p:sldId id="281" r:id="rId26"/>
    <p:sldId id="278" r:id="rId27"/>
    <p:sldId id="282" r:id="rId28"/>
    <p:sldId id="286" r:id="rId29"/>
    <p:sldId id="290" r:id="rId30"/>
    <p:sldId id="275" r:id="rId3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>
        <p:scale>
          <a:sx n="200" d="100"/>
          <a:sy n="200" d="100"/>
        </p:scale>
        <p:origin x="144" y="-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636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49" y="1681163"/>
            <a:ext cx="3887393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81be61c3dad309e5&amp;cs=0&amp;sxsrf=AE3TifOgtBNllvGCqdzC-JWjnZ42igBrxw%3A1758194859861&amp;q=Peace&amp;sa=X&amp;ved=2ahUKEwiEpJ6gmuKPAxUAWEEAHdojNmcQxccNegQIEBAB&amp;mstk=AUtExfA3aGWkTGv2jZ39YmOdT3mMbXhoRWBJz92CdfPKODGBVJ6tsqwIZIFytuOTdnj21dVAvcnLqe31Snkew1uz_-ToBfvoyKqVEYHjZq6rCuoaSlOq_Anfk7YyUuGBTE3W0KGMJgTP4K1sumnZ56ZQrF7y6htBAsT5DDHAXGZYLsQ1KBsFO83zR6tGggElqpWdoa7zFMF5m8Jqjbg5OitKld8AycJguLP1fx5yt-4y1FzekGezqIdZEaLalvchxPVBWSvTedqZX224HfU3d_NYqdu8&amp;csui=3" TargetMode="External"/><Relationship Id="rId7" Type="http://schemas.openxmlformats.org/officeDocument/2006/relationships/hyperlink" Target="https://www.google.com/search?sca_esv=81be61c3dad309e5&amp;cs=0&amp;sxsrf=AE3TifOgtBNllvGCqdzC-JWjnZ42igBrxw%3A1758194859861&amp;q=Stewardship&amp;sa=X&amp;ved=2ahUKEwiEpJ6gmuKPAxUAWEEAHdojNmcQxccNegQIFBAB&amp;mstk=AUtExfA3aGWkTGv2jZ39YmOdT3mMbXhoRWBJz92CdfPKODGBVJ6tsqwIZIFytuOTdnj21dVAvcnLqe31Snkew1uz_-ToBfvoyKqVEYHjZq6rCuoaSlOq_Anfk7YyUuGBTE3W0KGMJgTP4K1sumnZ56ZQrF7y6htBAsT5DDHAXGZYLsQ1KBsFO83zR6tGggElqpWdoa7zFMF5m8Jqjbg5OitKld8AycJguLP1fx5yt-4y1FzekGezqIdZEaLalvchxPVBWSvTedqZX224HfU3d_NYqdu8&amp;csui=3" TargetMode="External"/><Relationship Id="rId2" Type="http://schemas.openxmlformats.org/officeDocument/2006/relationships/hyperlink" Target="https://www.google.com/search?sca_esv=81be61c3dad309e5&amp;cs=0&amp;sxsrf=AE3TifOgtBNllvGCqdzC-JWjnZ42igBrxw%3A1758194859861&amp;q=Simplicity&amp;sa=X&amp;ved=2ahUKEwiEpJ6gmuKPAxUAWEEAHdojNmcQxccNegQIDxAB&amp;mstk=AUtExfA3aGWkTGv2jZ39YmOdT3mMbXhoRWBJz92CdfPKODGBVJ6tsqwIZIFytuOTdnj21dVAvcnLqe31Snkew1uz_-ToBfvoyKqVEYHjZq6rCuoaSlOq_Anfk7YyUuGBTE3W0KGMJgTP4K1sumnZ56ZQrF7y6htBAsT5DDHAXGZYLsQ1KBsFO83zR6tGggElqpWdoa7zFMF5m8Jqjbg5OitKld8AycJguLP1fx5yt-4y1FzekGezqIdZEaLalvchxPVBWSvTedqZX224HfU3d_NYqdu8&amp;csui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sca_esv=81be61c3dad309e5&amp;cs=0&amp;sxsrf=AE3TifOgtBNllvGCqdzC-JWjnZ42igBrxw%3A1758194859861&amp;q=Equality&amp;sa=X&amp;ved=2ahUKEwiEpJ6gmuKPAxUAWEEAHdojNmcQxccNegQIEhAB&amp;mstk=AUtExfA3aGWkTGv2jZ39YmOdT3mMbXhoRWBJz92CdfPKODGBVJ6tsqwIZIFytuOTdnj21dVAvcnLqe31Snkew1uz_-ToBfvoyKqVEYHjZq6rCuoaSlOq_Anfk7YyUuGBTE3W0KGMJgTP4K1sumnZ56ZQrF7y6htBAsT5DDHAXGZYLsQ1KBsFO83zR6tGggElqpWdoa7zFMF5m8Jqjbg5OitKld8AycJguLP1fx5yt-4y1FzekGezqIdZEaLalvchxPVBWSvTedqZX224HfU3d_NYqdu8&amp;csui=3" TargetMode="External"/><Relationship Id="rId5" Type="http://schemas.openxmlformats.org/officeDocument/2006/relationships/hyperlink" Target="https://www.google.com/search?sca_esv=81be61c3dad309e5&amp;cs=0&amp;sxsrf=AE3TifOgtBNllvGCqdzC-JWjnZ42igBrxw%3A1758194859861&amp;q=Community&amp;sa=X&amp;ved=2ahUKEwiEpJ6gmuKPAxUAWEEAHdojNmcQxccNegQIExAB&amp;mstk=AUtExfA3aGWkTGv2jZ39YmOdT3mMbXhoRWBJz92CdfPKODGBVJ6tsqwIZIFytuOTdnj21dVAvcnLqe31Snkew1uz_-ToBfvoyKqVEYHjZq6rCuoaSlOq_Anfk7YyUuGBTE3W0KGMJgTP4K1sumnZ56ZQrF7y6htBAsT5DDHAXGZYLsQ1KBsFO83zR6tGggElqpWdoa7zFMF5m8Jqjbg5OitKld8AycJguLP1fx5yt-4y1FzekGezqIdZEaLalvchxPVBWSvTedqZX224HfU3d_NYqdu8&amp;csui=3" TargetMode="External"/><Relationship Id="rId4" Type="http://schemas.openxmlformats.org/officeDocument/2006/relationships/hyperlink" Target="https://www.google.com/search?sca_esv=81be61c3dad309e5&amp;cs=0&amp;sxsrf=AE3TifOgtBNllvGCqdzC-JWjnZ42igBrxw%3A1758194859861&amp;q=Integrity&amp;sa=X&amp;ved=2ahUKEwiEpJ6gmuKPAxUAWEEAHdojNmcQxccNegQIERAB&amp;mstk=AUtExfA3aGWkTGv2jZ39YmOdT3mMbXhoRWBJz92CdfPKODGBVJ6tsqwIZIFytuOTdnj21dVAvcnLqe31Snkew1uz_-ToBfvoyKqVEYHjZq6rCuoaSlOq_Anfk7YyUuGBTE3W0KGMJgTP4K1sumnZ56ZQrF7y6htBAsT5DDHAXGZYLsQ1KBsFO83zR6tGggElqpWdoa7zFMF5m8Jqjbg5OitKld8AycJguLP1fx5yt-4y1FzekGezqIdZEaLalvchxPVBWSvTedqZX224HfU3d_NYqdu8&amp;csui=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romophor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en.wikipedia.org/wiki/Vertebrate_visual_opsi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william_allen/william_allen_with_hyperlinks.png" TargetMode="External"/><Relationship Id="rId2" Type="http://schemas.openxmlformats.org/officeDocument/2006/relationships/hyperlink" Target="william_allen/william_allen_with_hyperlinks.sv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romophor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en.wikipedia.org/wiki/Vertebrate_visual_opsin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ellcomecollection.org/works/x5w2tw8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ellcomecollection.org/works/vk7b3bgw" TargetMode="External"/><Relationship Id="rId5" Type="http://schemas.openxmlformats.org/officeDocument/2006/relationships/hyperlink" Target="https://wellcomecollection.org/works/e6utcyqy" TargetMode="External"/><Relationship Id="rId4" Type="http://schemas.openxmlformats.org/officeDocument/2006/relationships/hyperlink" Target="https://wellcomecollection.org/works/nm9fcgfc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en.wikipedia.org/wiki/File:Prison_for_Women_by_Kathleen_Lonsdale._1943._(22149638693).jpg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etermr/quaker_scientist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8E995F-539A-46C4-C670-3586114FC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4388"/>
            <a:ext cx="7543800" cy="4813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E96E9-0E63-E604-2C51-B7197AB784E4}"/>
              </a:ext>
            </a:extLst>
          </p:cNvPr>
          <p:cNvSpPr txBox="1"/>
          <p:nvPr/>
        </p:nvSpPr>
        <p:spPr>
          <a:xfrm>
            <a:off x="1205507" y="5173133"/>
            <a:ext cx="6563654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800" dirty="0"/>
              <a:t>Graham Waterhouse and Peter Murray-Rust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Jesus Lane Meeting House, 2025-09-18</a:t>
            </a:r>
            <a:endParaRPr kumimoji="0" lang="en-US" sz="2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9A5C0-2C0B-4089-312C-05CEB5A2620E}"/>
              </a:ext>
            </a:extLst>
          </p:cNvPr>
          <p:cNvSpPr txBox="1"/>
          <p:nvPr/>
        </p:nvSpPr>
        <p:spPr>
          <a:xfrm>
            <a:off x="1066800" y="4052930"/>
            <a:ext cx="2017538" cy="52321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William Allen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609482-A1BA-C7C5-B290-ED0D3E81C812}"/>
              </a:ext>
            </a:extLst>
          </p:cNvPr>
          <p:cNvSpPr txBox="1"/>
          <p:nvPr/>
        </p:nvSpPr>
        <p:spPr>
          <a:xfrm>
            <a:off x="3238945" y="4052930"/>
            <a:ext cx="2758125" cy="52321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Kathleen Lonsdale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2D784-25BF-67F3-2DD4-75D3ED97CA89}"/>
              </a:ext>
            </a:extLst>
          </p:cNvPr>
          <p:cNvSpPr txBox="1"/>
          <p:nvPr/>
        </p:nvSpPr>
        <p:spPr>
          <a:xfrm>
            <a:off x="6122943" y="4050327"/>
            <a:ext cx="1828384" cy="52321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John Dalton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C431D0-E184-C7FC-FA9B-76B7330A3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47" y="279272"/>
            <a:ext cx="6461705" cy="914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218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2FEEAD-A618-0FE3-7FBD-69D6B9B3942F}"/>
              </a:ext>
            </a:extLst>
          </p:cNvPr>
          <p:cNvSpPr txBox="1"/>
          <p:nvPr/>
        </p:nvSpPr>
        <p:spPr>
          <a:xfrm>
            <a:off x="228600" y="175846"/>
            <a:ext cx="4923692" cy="3539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/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The SPICES Principles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001D35"/>
                </a:solidFill>
                <a:effectLst/>
                <a:latin typeface="Google Sans"/>
                <a:hlinkClick r:id="rId2"/>
              </a:rPr>
              <a:t>Simplicity</a:t>
            </a:r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001D35"/>
                </a:solidFill>
                <a:effectLst/>
                <a:latin typeface="Google Sans"/>
                <a:hlinkClick r:id="rId3"/>
              </a:rPr>
              <a:t>Peace</a:t>
            </a:r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  <a:endParaRPr lang="en-GB" sz="32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001D35"/>
                </a:solidFill>
                <a:effectLst/>
                <a:latin typeface="Google Sans"/>
                <a:hlinkClick r:id="rId4"/>
              </a:rPr>
              <a:t>Integrity</a:t>
            </a:r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001D35"/>
                </a:solidFill>
                <a:effectLst/>
                <a:latin typeface="Google Sans"/>
                <a:hlinkClick r:id="rId5"/>
              </a:rPr>
              <a:t>Community</a:t>
            </a:r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001D35"/>
                </a:solidFill>
                <a:effectLst/>
                <a:latin typeface="Google Sans"/>
                <a:hlinkClick r:id="rId6"/>
              </a:rPr>
              <a:t>Equality</a:t>
            </a:r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rgbClr val="001D35"/>
                </a:solidFill>
                <a:effectLst/>
                <a:latin typeface="Google Sans"/>
                <a:hlinkClick r:id="rId7"/>
              </a:rPr>
              <a:t>Stewardship</a:t>
            </a:r>
            <a:r>
              <a:rPr lang="en-GB" sz="3200" b="0" i="0" dirty="0">
                <a:solidFill>
                  <a:srgbClr val="001D35"/>
                </a:solidFill>
                <a:effectLst/>
                <a:latin typeface="Google Sans"/>
              </a:rPr>
              <a:t>: </a:t>
            </a:r>
            <a:endParaRPr lang="en-GB" sz="3200" b="0" i="0" dirty="0">
              <a:solidFill>
                <a:srgbClr val="0B57D0"/>
              </a:solidFill>
              <a:effectLst/>
              <a:latin typeface="Google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8666D-D245-9998-6957-FA3D53706F59}"/>
              </a:ext>
            </a:extLst>
          </p:cNvPr>
          <p:cNvSpPr txBox="1"/>
          <p:nvPr/>
        </p:nvSpPr>
        <p:spPr>
          <a:xfrm>
            <a:off x="319538" y="3795597"/>
            <a:ext cx="2865526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Themes: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Science + religion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Education, Quaker schools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Outreach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Dissension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F05D8-0D7B-3809-7717-4EFDBC16F897}"/>
              </a:ext>
            </a:extLst>
          </p:cNvPr>
          <p:cNvSpPr txBox="1"/>
          <p:nvPr/>
        </p:nvSpPr>
        <p:spPr>
          <a:xfrm>
            <a:off x="534843" y="5551861"/>
            <a:ext cx="7607209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finding of one generation will not serve for the next. It tarnishes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rapidly except it be reserved with an ever-renewed spirit of seeking.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800" i="1" u="none" strike="noStrike" cap="none" spc="0" normalizeH="0" baseline="0" dirty="0">
                <a:ln>
                  <a:noFill/>
                </a:ln>
                <a:solidFill>
                  <a:srgbClr val="202122"/>
                </a:solidFill>
                <a:uFillTx/>
                <a:latin typeface="Arial" panose="020B0604020202020204" pitchFamily="34" charset="0"/>
                <a:ea typeface="+mj-ea"/>
                <a:cs typeface="+mj-cs"/>
                <a:sym typeface="Calibri"/>
              </a:rPr>
              <a:t>Arthur Eddington</a:t>
            </a:r>
            <a:endParaRPr kumimoji="0" lang="en-US" sz="180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574099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ertebrate visual opsin - Wikipedia">
            <a:extLst>
              <a:ext uri="{FF2B5EF4-FFF2-40B4-BE49-F238E27FC236}">
                <a16:creationId xmlns:a16="http://schemas.microsoft.com/office/drawing/2014/main" id="{A58A1CE6-812E-2030-8C07-CE5D85DF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6" y="71920"/>
            <a:ext cx="3210424" cy="49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5EF20B-47F0-F469-65EA-7795066A5CF4}"/>
              </a:ext>
            </a:extLst>
          </p:cNvPr>
          <p:cNvSpPr txBox="1"/>
          <p:nvPr/>
        </p:nvSpPr>
        <p:spPr>
          <a:xfrm>
            <a:off x="467474" y="5430766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Three-dimensional structure of bovine rhodopsin. The seven transmembrane domains are shown in varying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colors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retinal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Chromophore"/>
              </a:rPr>
              <a:t>chromophore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shown in red.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Wikipedia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CED10-C3B2-72E3-386F-6937CD72D418}"/>
              </a:ext>
            </a:extLst>
          </p:cNvPr>
          <p:cNvSpPr txBox="1"/>
          <p:nvPr/>
        </p:nvSpPr>
        <p:spPr>
          <a:xfrm>
            <a:off x="110444" y="5061436"/>
            <a:ext cx="52860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  <a:hlinkClick r:id="rId4"/>
              </a:rPr>
              <a:t>https://en.wikipedia.org/wiki/Vertebrate_visual_opsin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718A1-60D1-813C-8AED-0B190410F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945" y="254143"/>
            <a:ext cx="3937000" cy="4089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F5DB8B-8783-E29D-B8D6-5D9840815188}"/>
              </a:ext>
            </a:extLst>
          </p:cNvPr>
          <p:cNvCxnSpPr/>
          <p:nvPr/>
        </p:nvCxnSpPr>
        <p:spPr>
          <a:xfrm flipV="1">
            <a:off x="1993187" y="2085654"/>
            <a:ext cx="3046287" cy="339047"/>
          </a:xfrm>
          <a:prstGeom prst="straightConnector1">
            <a:avLst/>
          </a:prstGeom>
          <a:noFill/>
          <a:ln w="76200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3D2FFA-E230-1CA3-ACBC-A5BFC9E06F38}"/>
              </a:ext>
            </a:extLst>
          </p:cNvPr>
          <p:cNvSpPr txBox="1"/>
          <p:nvPr/>
        </p:nvSpPr>
        <p:spPr>
          <a:xfrm>
            <a:off x="5527498" y="4522828"/>
            <a:ext cx="3283910" cy="1569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Atoms responsible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for John Dalton’s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err="1"/>
              <a:t>colour</a:t>
            </a:r>
            <a:r>
              <a:rPr lang="en-US" sz="3200" dirty="0"/>
              <a:t> blindness 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473007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B26636-9F12-8E8A-EBA3-336155409941}"/>
              </a:ext>
            </a:extLst>
          </p:cNvPr>
          <p:cNvSpPr txBox="1"/>
          <p:nvPr/>
        </p:nvSpPr>
        <p:spPr>
          <a:xfrm>
            <a:off x="2528049" y="270933"/>
            <a:ext cx="346825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Knowledge Graphs for the scientists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1FE8-7A22-2630-E8C9-401CA29DEA85}"/>
              </a:ext>
            </a:extLst>
          </p:cNvPr>
          <p:cNvSpPr txBox="1"/>
          <p:nvPr/>
        </p:nvSpPr>
        <p:spPr>
          <a:xfrm>
            <a:off x="805832" y="818063"/>
            <a:ext cx="780117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Cursor AI was used to generate knowledge graphs of relatives, mentors/mentees  </a:t>
            </a:r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02561839-49FE-C8AF-D9D1-4FEBD5AF4D1B}"/>
              </a:ext>
            </a:extLst>
          </p:cNvPr>
          <p:cNvSpPr txBox="1"/>
          <p:nvPr/>
        </p:nvSpPr>
        <p:spPr>
          <a:xfrm>
            <a:off x="1283677" y="1626577"/>
            <a:ext cx="133305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  <a:hlinkClick r:id="rId3"/>
              </a:rPr>
              <a:t>William Allen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91379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illiam Allen print">
            <a:extLst>
              <a:ext uri="{FF2B5EF4-FFF2-40B4-BE49-F238E27FC236}">
                <a16:creationId xmlns:a16="http://schemas.microsoft.com/office/drawing/2014/main" id="{862B82EA-9952-B1F5-F57B-7E66B26D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0"/>
            <a:ext cx="803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William Allen print">
            <a:extLst>
              <a:ext uri="{FF2B5EF4-FFF2-40B4-BE49-F238E27FC236}">
                <a16:creationId xmlns:a16="http://schemas.microsoft.com/office/drawing/2014/main" id="{5FB05A52-D5E5-513E-39EC-85F7F47C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18" y="0"/>
            <a:ext cx="8031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2927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tomic Theory Archives - Quaker Tapestry">
            <a:extLst>
              <a:ext uri="{FF2B5EF4-FFF2-40B4-BE49-F238E27FC236}">
                <a16:creationId xmlns:a16="http://schemas.microsoft.com/office/drawing/2014/main" id="{33B65D2D-2BD5-51C5-BF6B-984D143A8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0"/>
            <a:ext cx="4732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8633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kathleen lonsdale Archives - Quaker Tapestry">
            <a:extLst>
              <a:ext uri="{FF2B5EF4-FFF2-40B4-BE49-F238E27FC236}">
                <a16:creationId xmlns:a16="http://schemas.microsoft.com/office/drawing/2014/main" id="{FCA10F02-D563-48BC-CE3A-E44DAA028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0"/>
            <a:ext cx="4135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433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e Quaker Tapestry Museum, Kendal | Visit Cumbria">
            <a:extLst>
              <a:ext uri="{FF2B5EF4-FFF2-40B4-BE49-F238E27FC236}">
                <a16:creationId xmlns:a16="http://schemas.microsoft.com/office/drawing/2014/main" id="{C5EDAA2B-97AE-84A5-9B0A-7271262A5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1300"/>
            <a:ext cx="7620000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0565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D72DA7-4B98-AD6A-96C6-953072EFB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34" y="157038"/>
            <a:ext cx="7366000" cy="440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89B045-777D-0F92-5999-2AEDD5CE4FFF}"/>
              </a:ext>
            </a:extLst>
          </p:cNvPr>
          <p:cNvSpPr txBox="1"/>
          <p:nvPr/>
        </p:nvSpPr>
        <p:spPr>
          <a:xfrm>
            <a:off x="241729" y="6135205"/>
            <a:ext cx="630877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Scanned images copyright © 2017,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Royal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Societyhttps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doi.org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/10.1098/rstl.1783.0008open_in_new</a:t>
            </a:r>
          </a:p>
        </p:txBody>
      </p:sp>
    </p:spTree>
    <p:extLst>
      <p:ext uri="{BB962C8B-B14F-4D97-AF65-F5344CB8AC3E}">
        <p14:creationId xmlns:p14="http://schemas.microsoft.com/office/powerpoint/2010/main" val="261571918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25B554-F1D8-FE6D-F5DE-1480BDB9911C}"/>
              </a:ext>
            </a:extLst>
          </p:cNvPr>
          <p:cNvSpPr txBox="1"/>
          <p:nvPr/>
        </p:nvSpPr>
        <p:spPr>
          <a:xfrm>
            <a:off x="2286000" y="3108403"/>
            <a:ext cx="457200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upload.wikimedia.org</a:t>
            </a:r>
            <a:r>
              <a:rPr lang="en-US" dirty="0"/>
              <a:t>/</a:t>
            </a:r>
            <a:r>
              <a:rPr lang="en-US" dirty="0" err="1"/>
              <a:t>wikipedia</a:t>
            </a:r>
            <a:r>
              <a:rPr lang="en-US" dirty="0"/>
              <a:t>/commons/0/0f/Dalton%27s_Element_List.jpg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148934-0EF7-C8DC-B126-5267D1872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0"/>
            <a:ext cx="50053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66255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AC5B30F-741C-9DB1-E63E-F241B728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0746" y="-246592"/>
            <a:ext cx="5087882" cy="697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production of drawing of atomic formulae (molecular formulae (reproductions))">
            <a:extLst>
              <a:ext uri="{FF2B5EF4-FFF2-40B4-BE49-F238E27FC236}">
                <a16:creationId xmlns:a16="http://schemas.microsoft.com/office/drawing/2014/main" id="{4FEC0490-ECA9-1C73-69B7-8EE58C66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136" y="157013"/>
            <a:ext cx="5931845" cy="355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10950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2BE3F8D-68D8-F03F-7FF8-38E747620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20338" cy="48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624F07-56EE-4D30-CBD9-3DC430911C1D}"/>
              </a:ext>
            </a:extLst>
          </p:cNvPr>
          <p:cNvSpPr txBox="1"/>
          <p:nvPr/>
        </p:nvSpPr>
        <p:spPr>
          <a:xfrm>
            <a:off x="323636" y="5086783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GB" b="0" i="0" dirty="0">
                <a:solidFill>
                  <a:srgbClr val="CCCCCC"/>
                </a:solidFill>
                <a:effectLst/>
                <a:latin typeface="SMGsans"/>
              </a:rPr>
              <a:t>Five wooden balls, made by Peter Ewart of Manchester c.1810, and used by John Dalton for demonstrating his atomic theory c. 1810–42</a:t>
            </a:r>
          </a:p>
          <a:p>
            <a:r>
              <a:rPr lang="en-GB" dirty="0"/>
              <a:t>Science Museum Group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5006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ertebrate visual opsin - Wikipedia">
            <a:extLst>
              <a:ext uri="{FF2B5EF4-FFF2-40B4-BE49-F238E27FC236}">
                <a16:creationId xmlns:a16="http://schemas.microsoft.com/office/drawing/2014/main" id="{A58A1CE6-812E-2030-8C07-CE5D85DF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6" y="71920"/>
            <a:ext cx="3210424" cy="49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5EF20B-47F0-F469-65EA-7795066A5CF4}"/>
              </a:ext>
            </a:extLst>
          </p:cNvPr>
          <p:cNvSpPr txBox="1"/>
          <p:nvPr/>
        </p:nvSpPr>
        <p:spPr>
          <a:xfrm>
            <a:off x="467474" y="5430766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Three-dimensional structure of bovine rhodopsin. The seven transmembrane domains are shown in varying </a:t>
            </a:r>
            <a:r>
              <a:rPr lang="en-GB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colors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The retinal </a:t>
            </a:r>
            <a:r>
              <a:rPr lang="en-GB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Chromophore"/>
              </a:rPr>
              <a:t>chromophore</a:t>
            </a:r>
            <a: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shown in red.</a:t>
            </a:r>
            <a:br>
              <a:rPr lang="en-GB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GB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Wikipedia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CED10-C3B2-72E3-386F-6937CD72D418}"/>
              </a:ext>
            </a:extLst>
          </p:cNvPr>
          <p:cNvSpPr txBox="1"/>
          <p:nvPr/>
        </p:nvSpPr>
        <p:spPr>
          <a:xfrm>
            <a:off x="110444" y="5061436"/>
            <a:ext cx="52860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  <a:hlinkClick r:id="rId4"/>
              </a:rPr>
              <a:t>https://en.wikipedia.org/wiki/Vertebrate_visual_opsin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0718A1-60D1-813C-8AED-0B190410F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945" y="254143"/>
            <a:ext cx="3937000" cy="4089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F5DB8B-8783-E29D-B8D6-5D9840815188}"/>
              </a:ext>
            </a:extLst>
          </p:cNvPr>
          <p:cNvCxnSpPr/>
          <p:nvPr/>
        </p:nvCxnSpPr>
        <p:spPr>
          <a:xfrm flipV="1">
            <a:off x="1993187" y="2085654"/>
            <a:ext cx="3046287" cy="339047"/>
          </a:xfrm>
          <a:prstGeom prst="straightConnector1">
            <a:avLst/>
          </a:prstGeom>
          <a:noFill/>
          <a:ln w="76200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3D2FFA-E230-1CA3-ACBC-A5BFC9E06F38}"/>
              </a:ext>
            </a:extLst>
          </p:cNvPr>
          <p:cNvSpPr txBox="1"/>
          <p:nvPr/>
        </p:nvSpPr>
        <p:spPr>
          <a:xfrm>
            <a:off x="5527498" y="4522828"/>
            <a:ext cx="3283910" cy="1569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Atoms responsible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for John Dalton’s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 err="1"/>
              <a:t>colour</a:t>
            </a:r>
            <a:r>
              <a:rPr lang="en-US" sz="3200" dirty="0"/>
              <a:t> blindness 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289239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hn Dalton Tapestry">
            <a:extLst>
              <a:ext uri="{FF2B5EF4-FFF2-40B4-BE49-F238E27FC236}">
                <a16:creationId xmlns:a16="http://schemas.microsoft.com/office/drawing/2014/main" id="{5B784938-49F0-9B6C-0A92-BEBB623D5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787" y="696686"/>
            <a:ext cx="9195084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F597B-1401-69B4-D896-AF64F61926D8}"/>
              </a:ext>
            </a:extLst>
          </p:cNvPr>
          <p:cNvSpPr txBox="1"/>
          <p:nvPr/>
        </p:nvSpPr>
        <p:spPr>
          <a:xfrm>
            <a:off x="432322" y="6324600"/>
            <a:ext cx="871167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https://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www.quaker-tapestry.co.uk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/2021/03/19/john-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dalton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-scientist-quaker-and-pioneer/</a:t>
            </a:r>
          </a:p>
        </p:txBody>
      </p:sp>
    </p:spTree>
    <p:extLst>
      <p:ext uri="{BB962C8B-B14F-4D97-AF65-F5344CB8AC3E}">
        <p14:creationId xmlns:p14="http://schemas.microsoft.com/office/powerpoint/2010/main" val="309722222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CFB4-1F47-FD16-FB3F-481B53C6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William Allen</a:t>
            </a:r>
          </a:p>
        </p:txBody>
      </p:sp>
    </p:spTree>
    <p:extLst>
      <p:ext uri="{BB962C8B-B14F-4D97-AF65-F5344CB8AC3E}">
        <p14:creationId xmlns:p14="http://schemas.microsoft.com/office/powerpoint/2010/main" val="585429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FBBFA-BB8B-3A65-8AA2-C8B22FADB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0793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E5909-8551-6FDD-CEC8-3FFBA3D15B4E}"/>
              </a:ext>
            </a:extLst>
          </p:cNvPr>
          <p:cNvSpPr txBox="1"/>
          <p:nvPr/>
        </p:nvSpPr>
        <p:spPr>
          <a:xfrm>
            <a:off x="5638800" y="254472"/>
            <a:ext cx="3505200" cy="3416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3"/>
              </a:rPr>
              <a:t>Wellcome Trust Corporate Archive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…</a:t>
            </a: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4"/>
              </a:rPr>
              <a:t>Direct activities WT/D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5"/>
              </a:rPr>
              <a:t>Library and Museum WT/D/1</a:t>
            </a:r>
            <a:endParaRPr lang="en-GB" b="0" i="0" dirty="0">
              <a:solidFill>
                <a:srgbClr val="121212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sng" dirty="0">
                <a:solidFill>
                  <a:srgbClr val="121212"/>
                </a:solidFill>
                <a:effectLst/>
                <a:latin typeface="Inter"/>
                <a:hlinkClick r:id="rId6"/>
              </a:rPr>
              <a:t>Images from the photographic library WT/D/1/20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M0007729: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600" b="1" i="0" dirty="0">
                <a:solidFill>
                  <a:srgbClr val="121212"/>
                </a:solidFill>
                <a:effectLst/>
                <a:latin typeface="Inter"/>
              </a:rPr>
              <a:t>Interior of the old pharmacy at Plough Court</a:t>
            </a:r>
            <a:r>
              <a:rPr lang="en-GB" b="1" i="0" dirty="0">
                <a:solidFill>
                  <a:srgbClr val="121212"/>
                </a:solidFill>
                <a:effectLst/>
                <a:latin typeface="Inter"/>
              </a:rPr>
              <a:t> </a:t>
            </a:r>
            <a:r>
              <a:rPr lang="en-GB" b="0" i="0" dirty="0">
                <a:solidFill>
                  <a:srgbClr val="121212"/>
                </a:solidFill>
                <a:effectLst/>
                <a:latin typeface="Inter"/>
              </a:rPr>
              <a:t>WT/D/1/20/1/66/62</a:t>
            </a:r>
          </a:p>
        </p:txBody>
      </p:sp>
    </p:spTree>
    <p:extLst>
      <p:ext uri="{BB962C8B-B14F-4D97-AF65-F5344CB8AC3E}">
        <p14:creationId xmlns:p14="http://schemas.microsoft.com/office/powerpoint/2010/main" val="2618774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165DC-B911-7008-E2FA-F7BC3D45A1F5}"/>
              </a:ext>
            </a:extLst>
          </p:cNvPr>
          <p:cNvSpPr txBox="1"/>
          <p:nvPr/>
        </p:nvSpPr>
        <p:spPr>
          <a:xfrm>
            <a:off x="193918" y="468136"/>
            <a:ext cx="22681541" cy="59093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GB" b="1" dirty="0">
                <a:effectLst/>
              </a:rPr>
              <a:t>Plough Court Pharmacy Medicines (1715-1927) [from </a:t>
            </a:r>
            <a:r>
              <a:rPr lang="en-GB" b="1" dirty="0" err="1">
                <a:effectLst/>
              </a:rPr>
              <a:t>CursorAI</a:t>
            </a:r>
            <a:r>
              <a:rPr lang="en-GB" b="1" dirty="0">
                <a:effectLst/>
              </a:rPr>
              <a:t>]</a:t>
            </a:r>
          </a:p>
          <a:p>
            <a:endParaRPr lang="en-GB" b="1" dirty="0">
              <a:effectLst/>
            </a:endParaRPr>
          </a:p>
          <a:p>
            <a:r>
              <a:rPr lang="en-GB" b="1" dirty="0"/>
              <a:t>NATURAL:</a:t>
            </a:r>
            <a:endParaRPr lang="en-GB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Digitalis (Foxglove)</a:t>
            </a:r>
            <a:r>
              <a:rPr lang="en-GB" dirty="0">
                <a:effectLst/>
              </a:rPr>
              <a:t>: For heart 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Willow Bark</a:t>
            </a:r>
            <a:r>
              <a:rPr lang="en-GB" dirty="0">
                <a:effectLst/>
              </a:rPr>
              <a:t>: Pain relief and fever reduction (precursor to aspirin)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Quinine powder</a:t>
            </a:r>
            <a:r>
              <a:rPr lang="en-GB" dirty="0">
                <a:effectLst/>
              </a:rPr>
              <a:t>: Malaria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Chamomile</a:t>
            </a:r>
            <a:r>
              <a:rPr lang="en-GB" dirty="0">
                <a:effectLst/>
              </a:rPr>
              <a:t>: Digestive issues and anxiety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Peppermint</a:t>
            </a:r>
            <a:r>
              <a:rPr lang="en-GB" dirty="0">
                <a:effectLst/>
              </a:rPr>
              <a:t>: </a:t>
            </a:r>
            <a:r>
              <a:rPr lang="en-GB" b="1" dirty="0">
                <a:effectLst/>
              </a:rPr>
              <a:t>Valerian</a:t>
            </a:r>
            <a:r>
              <a:rPr lang="en-GB" dirty="0">
                <a:effectLst/>
              </a:rPr>
              <a:t>: </a:t>
            </a:r>
            <a:r>
              <a:rPr lang="en-GB" b="1" dirty="0">
                <a:effectLst/>
              </a:rPr>
              <a:t>Rose Water</a:t>
            </a:r>
            <a:r>
              <a:rPr lang="en-GB" dirty="0">
                <a:effectLst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Laudanum</a:t>
            </a:r>
            <a:r>
              <a:rPr lang="en-GB" dirty="0">
                <a:effectLst/>
              </a:rPr>
              <a:t>: Opium tincture for pain relief and coughs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Elixirs, Cordials, bitters</a:t>
            </a:r>
          </a:p>
          <a:p>
            <a:endParaRPr lang="en-GB" b="1" dirty="0"/>
          </a:p>
          <a:p>
            <a:r>
              <a:rPr lang="en-GB" b="1" dirty="0">
                <a:effectLst/>
              </a:rPr>
              <a:t>Chemical Compounds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Mercury compounds</a:t>
            </a:r>
            <a:r>
              <a:rPr lang="en-GB" dirty="0">
                <a:effectLst/>
              </a:rPr>
              <a:t>: For syphilis treatment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Calomel (mercurous chloride)</a:t>
            </a:r>
            <a:r>
              <a:rPr lang="en-GB" dirty="0">
                <a:effectLst/>
              </a:rPr>
              <a:t>: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Antimony</a:t>
            </a:r>
            <a:r>
              <a:rPr lang="en-GB" dirty="0">
                <a:effectLst/>
              </a:rPr>
              <a:t>: Emetic and purgative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Arsenic preparations</a:t>
            </a:r>
            <a:r>
              <a:rPr lang="en-GB" b="1" dirty="0"/>
              <a:t>, </a:t>
            </a:r>
            <a:r>
              <a:rPr lang="en-GB" b="1" dirty="0">
                <a:effectLst/>
              </a:rPr>
              <a:t>Lead acetate</a:t>
            </a:r>
            <a:r>
              <a:rPr lang="en-GB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>
                <a:effectLst/>
              </a:rPr>
              <a:t>Sulfur</a:t>
            </a:r>
            <a:r>
              <a:rPr lang="en-GB" b="1" dirty="0">
                <a:effectLst/>
              </a:rPr>
              <a:t> preparations</a:t>
            </a:r>
            <a:r>
              <a:rPr lang="en-GB" dirty="0">
                <a:effectLst/>
              </a:rPr>
              <a:t>: For skin 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Zinc oxide ointments</a:t>
            </a:r>
            <a:r>
              <a:rPr lang="en-GB" dirty="0">
                <a:effectLst/>
              </a:rPr>
              <a:t>: For wounds and burns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Bottles, </a:t>
            </a:r>
            <a:r>
              <a:rPr lang="en-GB" b="1" dirty="0">
                <a:effectLst/>
              </a:rPr>
              <a:t>Scales, equipment</a:t>
            </a:r>
            <a:r>
              <a:rPr lang="en-GB" dirty="0"/>
              <a:t>, </a:t>
            </a:r>
            <a:r>
              <a:rPr lang="en-GB" b="1" dirty="0">
                <a:effectLst/>
              </a:rPr>
              <a:t>Mortars and pestles</a:t>
            </a:r>
            <a:r>
              <a:rPr lang="en-GB" dirty="0"/>
              <a:t>, </a:t>
            </a:r>
            <a:r>
              <a:rPr lang="en-GB" b="1" dirty="0">
                <a:effectLst/>
              </a:rPr>
              <a:t>Distillation equipment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Pills and powders</a:t>
            </a:r>
            <a:r>
              <a:rPr lang="en-GB" dirty="0">
                <a:effectLst/>
              </a:rPr>
              <a:t>: </a:t>
            </a:r>
            <a:r>
              <a:rPr lang="en-GB" b="1" dirty="0">
                <a:effectLst/>
              </a:rPr>
              <a:t>Lozenges</a:t>
            </a:r>
            <a:r>
              <a:rPr lang="en-GB" dirty="0">
                <a:effectLst/>
              </a:rPr>
              <a:t>: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469FE5-0DD5-ADED-BAD5-EB394C368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48887" y="1894099"/>
            <a:ext cx="739499" cy="110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inine wikimedia image from commons.wikimedia.org">
            <a:extLst>
              <a:ext uri="{FF2B5EF4-FFF2-40B4-BE49-F238E27FC236}">
                <a16:creationId xmlns:a16="http://schemas.microsoft.com/office/drawing/2014/main" id="{E09AF6CE-5070-BF35-F5B0-531FFD12B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999" y="1962380"/>
            <a:ext cx="1023815" cy="102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FDBED1A-BE9D-4A62-8A3B-3723C6C74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929" y="3626848"/>
            <a:ext cx="927417" cy="123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97BB77A-22A4-4329-D218-AF1992339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8814" y="307704"/>
            <a:ext cx="752230" cy="112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C13BFF3-44A9-1433-740A-687F7855F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225" y="3512526"/>
            <a:ext cx="1821474" cy="182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72065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llen &amp; Hanburys - Wikipedia">
            <a:extLst>
              <a:ext uri="{FF2B5EF4-FFF2-40B4-BE49-F238E27FC236}">
                <a16:creationId xmlns:a16="http://schemas.microsoft.com/office/drawing/2014/main" id="{59B6D1F2-FF92-2DCA-A891-96D0CFE4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15310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File:Allen &amp; Hanburys, works at Bethnal Green Wellcome ...">
            <a:extLst>
              <a:ext uri="{FF2B5EF4-FFF2-40B4-BE49-F238E27FC236}">
                <a16:creationId xmlns:a16="http://schemas.microsoft.com/office/drawing/2014/main" id="{5B94DB08-E69B-0155-9239-8EDE4423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19" y="5316"/>
            <a:ext cx="7602279" cy="542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40858-870E-7CA8-D39A-E6A80221CE58}"/>
              </a:ext>
            </a:extLst>
          </p:cNvPr>
          <p:cNvSpPr txBox="1"/>
          <p:nvPr/>
        </p:nvSpPr>
        <p:spPr>
          <a:xfrm>
            <a:off x="127591" y="5546031"/>
            <a:ext cx="9107619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Creator: 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Wellcome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 Library, London 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Copyright: Copyrighted work available under Creative Commons Attribution only licence </a:t>
            </a:r>
          </a:p>
          <a:p>
            <a:pPr algn="l"/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CC BY 4.0 http://</a:t>
            </a:r>
            <a:r>
              <a:rPr lang="en-GB" b="0" i="0" dirty="0" err="1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creativecommons.org</a:t>
            </a:r>
            <a:r>
              <a:rPr lang="en-GB" b="0" i="0" dirty="0">
                <a:solidFill>
                  <a:srgbClr val="75757A"/>
                </a:solidFill>
                <a:effectLst/>
                <a:latin typeface="Arial" panose="020B0604020202020204" pitchFamily="34" charset="0"/>
              </a:rPr>
              <a:t>/licenses/by/4.0/</a:t>
            </a:r>
          </a:p>
          <a:p>
            <a:br>
              <a:rPr lang="en-GB" dirty="0"/>
            </a:b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077537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Drawing of an aerial view | Hertfordshire Archives &amp; Local Studies (Ware.Industries pamphlet file)">
            <a:extLst>
              <a:ext uri="{FF2B5EF4-FFF2-40B4-BE49-F238E27FC236}">
                <a16:creationId xmlns:a16="http://schemas.microsoft.com/office/drawing/2014/main" id="{4324E653-2532-20C4-FA9A-0D5914EA3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77850"/>
            <a:ext cx="8928100" cy="570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5FAB04-C677-9BFD-156C-CC2F794ABCE4}"/>
              </a:ext>
            </a:extLst>
          </p:cNvPr>
          <p:cNvSpPr txBox="1"/>
          <p:nvPr/>
        </p:nvSpPr>
        <p:spPr>
          <a:xfrm>
            <a:off x="265813" y="6280150"/>
            <a:ext cx="6613347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algn="l" fontAlgn="base"/>
            <a:r>
              <a:rPr lang="en-GB" b="1" i="0" dirty="0">
                <a:solidFill>
                  <a:srgbClr val="151515"/>
                </a:solidFill>
                <a:effectLst/>
                <a:latin typeface="inherit"/>
              </a:rPr>
              <a:t>Allen &amp; Hanbury's, Ware showing the factory and mills in 1920</a:t>
            </a:r>
          </a:p>
          <a:p>
            <a:pPr algn="l" fontAlgn="base"/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Hertfordshire Archives &amp; Local Studies (</a:t>
            </a:r>
            <a:r>
              <a:rPr lang="en-GB" b="0" i="1" dirty="0" err="1">
                <a:solidFill>
                  <a:srgbClr val="151515"/>
                </a:solidFill>
                <a:effectLst/>
                <a:latin typeface="inherit"/>
              </a:rPr>
              <a:t>Ware.Industries</a:t>
            </a:r>
            <a:r>
              <a:rPr lang="en-GB" b="0" i="1" dirty="0">
                <a:solidFill>
                  <a:srgbClr val="151515"/>
                </a:solidFill>
                <a:effectLst/>
                <a:latin typeface="inherit"/>
              </a:rPr>
              <a:t> pamphlet file)</a:t>
            </a:r>
          </a:p>
          <a:p>
            <a:pPr algn="l" fontAlgn="base"/>
            <a:br>
              <a:rPr lang="en-GB" b="0" i="0" dirty="0">
                <a:solidFill>
                  <a:srgbClr val="151515"/>
                </a:solidFill>
                <a:effectLst/>
                <a:latin typeface="Open Sans" panose="020B0606030504020204" pitchFamily="34" charset="0"/>
              </a:rPr>
            </a:br>
            <a:endParaRPr lang="en-GB" b="0" i="0" dirty="0">
              <a:solidFill>
                <a:srgbClr val="151515"/>
              </a:solidFill>
              <a:effectLst/>
              <a:latin typeface="Open Sans" panose="020B0606030504020204" pitchFamily="34" charset="0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886799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CFB4-1F47-FD16-FB3F-481B53C6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Kathleen Lonsdale</a:t>
            </a:r>
          </a:p>
        </p:txBody>
      </p:sp>
    </p:spTree>
    <p:extLst>
      <p:ext uri="{BB962C8B-B14F-4D97-AF65-F5344CB8AC3E}">
        <p14:creationId xmlns:p14="http://schemas.microsoft.com/office/powerpoint/2010/main" val="18797648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Kathleen Lonsdale in her crystallography research laboratory at UCL. Photographer and date unknown">
            <a:extLst>
              <a:ext uri="{FF2B5EF4-FFF2-40B4-BE49-F238E27FC236}">
                <a16:creationId xmlns:a16="http://schemas.microsoft.com/office/drawing/2014/main" id="{FD322DF5-6DF4-F2DA-E24C-C4FD7F6FB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88" y="-210157"/>
            <a:ext cx="8197208" cy="605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3043E2-0550-6BA0-08DF-483DE6B35C5A}"/>
              </a:ext>
            </a:extLst>
          </p:cNvPr>
          <p:cNvSpPr txBox="1"/>
          <p:nvPr/>
        </p:nvSpPr>
        <p:spPr>
          <a:xfrm>
            <a:off x="245534" y="6062134"/>
            <a:ext cx="1048780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GB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Kathleen Lonsdale in her crystallography research laboratory at UCL. Photographer and date unknown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899277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onization spectrometer used by Lonsdale at the Royal Institution of Great Britain. Courtesy: The Royal Institution Archival Collection">
            <a:extLst>
              <a:ext uri="{FF2B5EF4-FFF2-40B4-BE49-F238E27FC236}">
                <a16:creationId xmlns:a16="http://schemas.microsoft.com/office/drawing/2014/main" id="{2E68D9AA-464A-F047-1107-8DCB20E44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0"/>
            <a:ext cx="4494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24408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alculations for the unit cell of benzene and the locations of the carbon atoms. Extract from Lonsdale’s notebook labelled ‘1924’ Papers of Dame Kathleen Lonsdale UCL Special Collections. Courtesy: The Lonsdale family">
            <a:extLst>
              <a:ext uri="{FF2B5EF4-FFF2-40B4-BE49-F238E27FC236}">
                <a16:creationId xmlns:a16="http://schemas.microsoft.com/office/drawing/2014/main" id="{7E0588F7-3CFA-F22D-6DE2-F62F0AB82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925"/>
            <a:ext cx="9144000" cy="551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60630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88341-451E-220C-77BE-9460B4B05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975"/>
            <a:ext cx="7772400" cy="4697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36B6B1-CC5A-AAC7-F25E-F8DA340F276B}"/>
              </a:ext>
            </a:extLst>
          </p:cNvPr>
          <p:cNvSpPr txBox="1"/>
          <p:nvPr/>
        </p:nvSpPr>
        <p:spPr>
          <a:xfrm>
            <a:off x="1635369" y="6137031"/>
            <a:ext cx="569642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International Tables for Crystallography (230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spacegroups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),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major contributions from Kathleen Lonsdale</a:t>
            </a:r>
          </a:p>
        </p:txBody>
      </p:sp>
    </p:spTree>
    <p:extLst>
      <p:ext uri="{BB962C8B-B14F-4D97-AF65-F5344CB8AC3E}">
        <p14:creationId xmlns:p14="http://schemas.microsoft.com/office/powerpoint/2010/main" val="336367128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rawing of the electron density projection on the (010) plane calculated for hexachlorobenzene. Extract from Lonsdale’s notebook labelled ‘1924’ Papers of Dame Kathleen Lonsdale UCL Special Collections. Courtesy: The Lonsdale family">
            <a:extLst>
              <a:ext uri="{FF2B5EF4-FFF2-40B4-BE49-F238E27FC236}">
                <a16:creationId xmlns:a16="http://schemas.microsoft.com/office/drawing/2014/main" id="{5048FAEC-61AA-2C12-A184-76419DB6B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525" y="0"/>
            <a:ext cx="5822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3B9E00-FB99-21D9-01BF-2929213C474B}"/>
              </a:ext>
            </a:extLst>
          </p:cNvPr>
          <p:cNvSpPr txBox="1"/>
          <p:nvPr/>
        </p:nvSpPr>
        <p:spPr>
          <a:xfrm>
            <a:off x="0" y="6082438"/>
            <a:ext cx="854286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GB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Drawing of the electron density projection on the (010) plane calculated for hexachlorobenzene. Extract from Lonsdale’s notebook labelled ‘1924’ Papers of Dame Kathleen Lonsdale UCL Special Collections. Courtesy: The Lonsdale family</a:t>
            </a:r>
          </a:p>
        </p:txBody>
      </p:sp>
    </p:spTree>
    <p:extLst>
      <p:ext uri="{BB962C8B-B14F-4D97-AF65-F5344CB8AC3E}">
        <p14:creationId xmlns:p14="http://schemas.microsoft.com/office/powerpoint/2010/main" val="26351651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3190FD-F1CE-C69A-6014-EE276B0FC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69" y="188284"/>
            <a:ext cx="2374998" cy="4001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D1B4F6-6D5A-6B6C-371C-7671FED1A388}"/>
              </a:ext>
            </a:extLst>
          </p:cNvPr>
          <p:cNvSpPr txBox="1"/>
          <p:nvPr/>
        </p:nvSpPr>
        <p:spPr>
          <a:xfrm>
            <a:off x="2870200" y="414867"/>
            <a:ext cx="5877569" cy="5293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…another baby and I spent most of my time finishing off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(by hand, of course, using log tables) the Fourier analysis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of hexachlorobenzene. In view of the oft-repeated claims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of organic chemists that the crystallographers told them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nothing that they did not already known, it may be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interesting to reprint a more generous tribute from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1" dirty="0"/>
              <a:t>C. K. Ingold </a:t>
            </a:r>
            <a:r>
              <a:rPr lang="en-GB" dirty="0"/>
              <a:t>(dated 2 November 193 1).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‘Ever so many thanks for the reprint of your wonderful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paper on Hexachlorobenzene. I </a:t>
            </a:r>
            <a:r>
              <a:rPr lang="en-GB" dirty="0" err="1"/>
              <a:t>havejust</a:t>
            </a:r>
            <a:r>
              <a:rPr lang="en-GB" dirty="0"/>
              <a:t> been studying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it in the Royal [Society journals] but am very glad to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dirty="0"/>
              <a:t>have it in a handy form. </a:t>
            </a:r>
            <a:r>
              <a:rPr lang="en-GB" sz="2800" b="1" dirty="0"/>
              <a:t>The calculations must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800" b="1" dirty="0"/>
              <a:t>have been dreadful but one paper like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800" b="1" dirty="0"/>
              <a:t>this brings more certainty into organic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800" b="1" dirty="0"/>
              <a:t>chemistry than generations of activity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2800" b="1" dirty="0"/>
              <a:t>by us professionals</a:t>
            </a:r>
            <a:r>
              <a:rPr lang="en-GB" dirty="0"/>
              <a:t>.’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287276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Pamphlet written by Kathleen Lonsdale on Prison Reform in 1943">
            <a:hlinkClick r:id="rId2"/>
            <a:extLst>
              <a:ext uri="{FF2B5EF4-FFF2-40B4-BE49-F238E27FC236}">
                <a16:creationId xmlns:a16="http://schemas.microsoft.com/office/drawing/2014/main" id="{EB203929-4146-DB9A-DAAA-B7D7B6B47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67" y="292099"/>
            <a:ext cx="4259646" cy="616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8092A-EFA4-EDD4-F981-8190EA81B3B2}"/>
              </a:ext>
            </a:extLst>
          </p:cNvPr>
          <p:cNvSpPr txBox="1"/>
          <p:nvPr/>
        </p:nvSpPr>
        <p:spPr>
          <a:xfrm>
            <a:off x="4842933" y="668866"/>
            <a:ext cx="4425248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Of her experience in prison, she said,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b="0" i="0" dirty="0">
              <a:solidFill>
                <a:srgbClr val="4C4C4C"/>
              </a:solidFill>
              <a:effectLst/>
              <a:latin typeface="Gilroy Regular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“What I was not prepared for was the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general insanity of an administrative system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In which lip service is paid to the idea of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segregation and the ideal of reform, when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in practice the opportunities for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contamination and infection are innumerable,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 and those responsible for re-education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practically nil”.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dirty="0">
              <a:solidFill>
                <a:srgbClr val="4C4C4C"/>
              </a:solidFill>
              <a:latin typeface="Gilroy Regular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Kathleen joined the Howard League for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Penal Reform and frequently visited women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b="0" i="0" dirty="0">
                <a:solidFill>
                  <a:srgbClr val="4C4C4C"/>
                </a:solidFill>
                <a:effectLst/>
                <a:latin typeface="Gilroy Regular"/>
              </a:rPr>
              <a:t>in prison as a form of support.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807558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4"/>
          <p:cNvSpPr txBox="1"/>
          <p:nvPr/>
        </p:nvSpPr>
        <p:spPr>
          <a:xfrm>
            <a:off x="370183" y="6297691"/>
            <a:ext cx="79169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/>
            </a:lvl1pPr>
          </a:lstStyle>
          <a:p>
            <a:r>
              <a:rPr dirty="0"/>
              <a:t>Copyright: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9A6B0-5E88-B4C7-0F33-E2F5291A0194}"/>
              </a:ext>
            </a:extLst>
          </p:cNvPr>
          <p:cNvSpPr txBox="1"/>
          <p:nvPr/>
        </p:nvSpPr>
        <p:spPr>
          <a:xfrm>
            <a:off x="2806613" y="159488"/>
            <a:ext cx="3530773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About these slides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54A21-857E-EF2E-69F4-B2B15C476448}"/>
              </a:ext>
            </a:extLst>
          </p:cNvPr>
          <p:cNvSpPr txBox="1"/>
          <p:nvPr/>
        </p:nvSpPr>
        <p:spPr>
          <a:xfrm>
            <a:off x="725672" y="928735"/>
            <a:ext cx="8418328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b="1" dirty="0"/>
              <a:t>Copyright</a:t>
            </a:r>
            <a:r>
              <a:rPr lang="en-US" dirty="0"/>
              <a:t>. Wherever possible we have used CC BY (SA) material, especially 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from Wikimedia. Other quoted material is offered as “personal use or non-commercial”. 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We suggest you treat this set of slides as CC BY-NC.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(</a:t>
            </a:r>
            <a:r>
              <a:rPr lang="en-GB" i="1" dirty="0"/>
              <a:t>Both Graham and Peter have liberal approaches to copyright (CC BY)</a:t>
            </a:r>
            <a:endParaRPr kumimoji="0" lang="en-US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/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b="1" dirty="0"/>
              <a:t>Repository</a:t>
            </a:r>
            <a:r>
              <a:rPr lang="en-US" dirty="0"/>
              <a:t>. These slides and associated material are at 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hlinkClick r:id="rId2"/>
              </a:rPr>
              <a:t>https://github.com/petermr/quaker_scientists</a:t>
            </a:r>
            <a:endParaRPr lang="en-US" dirty="0"/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/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b="1" dirty="0"/>
              <a:t>Use of AI</a:t>
            </a:r>
            <a:r>
              <a:rPr lang="en-US" dirty="0"/>
              <a:t>. </a:t>
            </a:r>
            <a:r>
              <a:rPr lang="en-US" dirty="0" err="1"/>
              <a:t>CursorAI</a:t>
            </a:r>
            <a:r>
              <a:rPr lang="en-US" dirty="0"/>
              <a:t> (2025-09) has been used to gather information, primarily 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from Wikipedia. I have checked most of it for accuracy but there may be slight errors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US" dirty="0"/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b="1" dirty="0"/>
              <a:t>Knowledge Graphs</a:t>
            </a:r>
            <a:r>
              <a:rPr lang="en-US" dirty="0"/>
              <a:t>. These have been created by </a:t>
            </a:r>
            <a:r>
              <a:rPr lang="en-US" dirty="0" err="1"/>
              <a:t>CursorAI</a:t>
            </a:r>
            <a:r>
              <a:rPr lang="en-US" dirty="0"/>
              <a:t> and I am continually revising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The protocol. There may be errors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99335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ourier New"/>
        <a:ea typeface="Courier New"/>
        <a:cs typeface="Courier New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3097</TotalTime>
  <Words>924</Words>
  <Application>Microsoft Macintosh PowerPoint</Application>
  <PresentationFormat>On-screen Show (4:3)</PresentationFormat>
  <Paragraphs>123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Calibri Light</vt:lpstr>
      <vt:lpstr>Gilroy Regular</vt:lpstr>
      <vt:lpstr>Google Sans</vt:lpstr>
      <vt:lpstr>inherit</vt:lpstr>
      <vt:lpstr>Inter</vt:lpstr>
      <vt:lpstr>Open Sans</vt:lpstr>
      <vt:lpstr>Roboto</vt:lpstr>
      <vt:lpstr>SMGsans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William Allen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Kathleen Lonsdale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8</cp:revision>
  <dcterms:modified xsi:type="dcterms:W3CDTF">2025-09-18T16:33:53Z</dcterms:modified>
</cp:coreProperties>
</file>